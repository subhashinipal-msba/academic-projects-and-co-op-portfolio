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2" r:id="rId4"/>
    <p:sldId id="263" r:id="rId5"/>
    <p:sldId id="272" r:id="rId6"/>
    <p:sldId id="261" r:id="rId7"/>
    <p:sldId id="258" r:id="rId8"/>
    <p:sldId id="259" r:id="rId9"/>
    <p:sldId id="265" r:id="rId10"/>
    <p:sldId id="280" r:id="rId11"/>
    <p:sldId id="282" r:id="rId12"/>
    <p:sldId id="264" r:id="rId13"/>
    <p:sldId id="266" r:id="rId14"/>
    <p:sldId id="267" r:id="rId15"/>
    <p:sldId id="268" r:id="rId16"/>
    <p:sldId id="269" r:id="rId17"/>
    <p:sldId id="28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3A31FD9-4E92-4898-8483-2D089AB48234}">
          <p14:sldIdLst>
            <p14:sldId id="256"/>
            <p14:sldId id="257"/>
            <p14:sldId id="262"/>
          </p14:sldIdLst>
        </p14:section>
        <p14:section name="Untitled Section" id="{2F378420-9C7C-45FD-96AF-FBA4866D809E}">
          <p14:sldIdLst>
            <p14:sldId id="263"/>
            <p14:sldId id="272"/>
            <p14:sldId id="261"/>
            <p14:sldId id="258"/>
            <p14:sldId id="259"/>
            <p14:sldId id="265"/>
            <p14:sldId id="280"/>
            <p14:sldId id="282"/>
            <p14:sldId id="264"/>
            <p14:sldId id="266"/>
            <p14:sldId id="267"/>
            <p14:sldId id="268"/>
            <p14:sldId id="269"/>
            <p14:sldId id="28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bhashini pal" initials="sp" lastIdx="1" clrIdx="0">
    <p:extLst>
      <p:ext uri="{19B8F6BF-5375-455C-9EA6-DF929625EA0E}">
        <p15:presenceInfo xmlns:p15="http://schemas.microsoft.com/office/powerpoint/2012/main" userId="67ff02cb0bb83bc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5/28/2021</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5/28/2021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5/28/2021</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52A8-8B61-4741-8E4A-2FFE42BF2605}"/>
              </a:ext>
            </a:extLst>
          </p:cNvPr>
          <p:cNvSpPr>
            <a:spLocks noGrp="1"/>
          </p:cNvSpPr>
          <p:nvPr>
            <p:ph type="ctrTitle"/>
          </p:nvPr>
        </p:nvSpPr>
        <p:spPr>
          <a:xfrm>
            <a:off x="1354016" y="0"/>
            <a:ext cx="10442330" cy="1160585"/>
          </a:xfrm>
        </p:spPr>
        <p:txBody>
          <a:bodyPr>
            <a:normAutofit fontScale="90000"/>
          </a:bodyPr>
          <a:lstStyle/>
          <a:p>
            <a:br>
              <a:rPr lang="en-US" sz="3100" dirty="0">
                <a:solidFill>
                  <a:srgbClr val="C00000"/>
                </a:solidFill>
                <a:latin typeface="Times New Roman" panose="02020603050405020304" pitchFamily="18" charset="0"/>
                <a:cs typeface="Times New Roman" panose="02020603050405020304" pitchFamily="18" charset="0"/>
              </a:rPr>
            </a:br>
            <a:br>
              <a:rPr lang="en-US" sz="3100" dirty="0">
                <a:solidFill>
                  <a:srgbClr val="C00000"/>
                </a:solidFill>
                <a:latin typeface="Times New Roman" panose="02020603050405020304" pitchFamily="18" charset="0"/>
                <a:cs typeface="Times New Roman" panose="02020603050405020304" pitchFamily="18" charset="0"/>
              </a:rPr>
            </a:br>
            <a:br>
              <a:rPr lang="en-US" sz="3100" dirty="0">
                <a:solidFill>
                  <a:srgbClr val="C00000"/>
                </a:solidFill>
                <a:latin typeface="Times New Roman" panose="02020603050405020304" pitchFamily="18" charset="0"/>
                <a:cs typeface="Times New Roman" panose="02020603050405020304" pitchFamily="18" charset="0"/>
              </a:rPr>
            </a:br>
            <a:br>
              <a:rPr lang="en-US" sz="3100" dirty="0">
                <a:solidFill>
                  <a:srgbClr val="C00000"/>
                </a:solidFill>
                <a:latin typeface="Times New Roman" panose="02020603050405020304" pitchFamily="18" charset="0"/>
                <a:cs typeface="Times New Roman" panose="02020603050405020304" pitchFamily="18" charset="0"/>
              </a:rPr>
            </a:br>
            <a:r>
              <a:rPr lang="en-US" sz="3100" dirty="0">
                <a:solidFill>
                  <a:srgbClr val="C00000"/>
                </a:solidFill>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SRI KRISHNA INSTITUTE OF TECHNOLOGY</a:t>
            </a:r>
            <a:br>
              <a:rPr lang="en-IN" sz="4800" dirty="0">
                <a:solidFill>
                  <a:srgbClr val="C00000"/>
                </a:solidFill>
                <a:latin typeface="Times New Roman" panose="02020603050405020304" pitchFamily="18"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78F6D8A1-5F94-4C13-B26E-80BE25C2C3E3}"/>
              </a:ext>
            </a:extLst>
          </p:cNvPr>
          <p:cNvSpPr>
            <a:spLocks noGrp="1"/>
          </p:cNvSpPr>
          <p:nvPr>
            <p:ph type="subTitle" idx="1"/>
          </p:nvPr>
        </p:nvSpPr>
        <p:spPr>
          <a:xfrm>
            <a:off x="1951893" y="703386"/>
            <a:ext cx="9627576" cy="6154614"/>
          </a:xfrm>
        </p:spPr>
        <p:txBody>
          <a:bodyPr>
            <a:normAutofit fontScale="55000" lnSpcReduction="20000"/>
          </a:bodyPr>
          <a:lstStyle/>
          <a:p>
            <a:pPr algn="ctr"/>
            <a:r>
              <a:rPr lang="en-US" sz="3400" b="1" dirty="0">
                <a:solidFill>
                  <a:schemeClr val="tx1"/>
                </a:solidFill>
                <a:latin typeface="Times New Roman" panose="02020603050405020304" pitchFamily="18" charset="0"/>
                <a:cs typeface="Times New Roman" panose="02020603050405020304" pitchFamily="18" charset="0"/>
              </a:rPr>
              <a:t> </a:t>
            </a:r>
            <a:r>
              <a:rPr lang="en-US" sz="3300" b="1" dirty="0">
                <a:solidFill>
                  <a:schemeClr val="tx1"/>
                </a:solidFill>
                <a:latin typeface="Times New Roman" panose="02020603050405020304" pitchFamily="18" charset="0"/>
                <a:cs typeface="Times New Roman" panose="02020603050405020304" pitchFamily="18" charset="0"/>
              </a:rPr>
              <a:t>DEPARTMENT OF INFORMATION SCIENCE AND ENGINEERING</a:t>
            </a:r>
            <a:endParaRPr lang="en-IN" sz="3300" b="1" dirty="0">
              <a:solidFill>
                <a:schemeClr val="tx1"/>
              </a:solidFill>
              <a:latin typeface="Times New Roman" panose="02020603050405020304" pitchFamily="18" charset="0"/>
              <a:cs typeface="Times New Roman" panose="02020603050405020304" pitchFamily="18" charset="0"/>
            </a:endParaRPr>
          </a:p>
          <a:p>
            <a:pPr algn="ctr"/>
            <a:r>
              <a:rPr lang="en-US" sz="3300" dirty="0">
                <a:solidFill>
                  <a:schemeClr val="tx1"/>
                </a:solidFill>
                <a:latin typeface="Times New Roman" panose="02020603050405020304" pitchFamily="18" charset="0"/>
                <a:cs typeface="Times New Roman" panose="02020603050405020304" pitchFamily="18" charset="0"/>
              </a:rPr>
              <a:t>A</a:t>
            </a:r>
          </a:p>
          <a:p>
            <a:pPr algn="ctr"/>
            <a:r>
              <a:rPr lang="en-US" sz="3300" dirty="0">
                <a:solidFill>
                  <a:schemeClr val="tx1"/>
                </a:solidFill>
                <a:latin typeface="Times New Roman" panose="02020603050405020304" pitchFamily="18" charset="0"/>
                <a:cs typeface="Times New Roman" panose="02020603050405020304" pitchFamily="18" charset="0"/>
              </a:rPr>
              <a:t>TECHNICAL SEMINAR PRESENTATION </a:t>
            </a:r>
          </a:p>
          <a:p>
            <a:pPr algn="ctr"/>
            <a:r>
              <a:rPr lang="en-US" sz="3300" dirty="0">
                <a:solidFill>
                  <a:schemeClr val="tx1"/>
                </a:solidFill>
                <a:latin typeface="Times New Roman" panose="02020603050405020304" pitchFamily="18" charset="0"/>
                <a:cs typeface="Times New Roman" panose="02020603050405020304" pitchFamily="18" charset="0"/>
              </a:rPr>
              <a:t>ON</a:t>
            </a:r>
            <a:endParaRPr lang="en-IN" sz="3300" dirty="0">
              <a:solidFill>
                <a:schemeClr val="tx1"/>
              </a:solidFill>
            </a:endParaRPr>
          </a:p>
          <a:p>
            <a:pPr algn="ctr"/>
            <a:r>
              <a:rPr lang="en-US" sz="3300" b="1" dirty="0">
                <a:solidFill>
                  <a:schemeClr val="tx1"/>
                </a:solidFill>
                <a:latin typeface="Times New Roman" panose="02020603050405020304" pitchFamily="18" charset="0"/>
                <a:cs typeface="Times New Roman" panose="02020603050405020304" pitchFamily="18" charset="0"/>
              </a:rPr>
              <a:t>  “Fabric-iot : A Blockchain-Based Access Control System in IoT”</a:t>
            </a:r>
            <a:endParaRPr lang="en-IN" sz="3300" b="1" dirty="0">
              <a:solidFill>
                <a:schemeClr val="tx1"/>
              </a:solidFill>
              <a:latin typeface="Times New Roman" panose="02020603050405020304" pitchFamily="18" charset="0"/>
              <a:cs typeface="Times New Roman" panose="02020603050405020304" pitchFamily="18" charset="0"/>
            </a:endParaRPr>
          </a:p>
          <a:p>
            <a:pPr algn="ctr"/>
            <a:r>
              <a:rPr lang="en-US" sz="3300" dirty="0">
                <a:solidFill>
                  <a:schemeClr val="tx1"/>
                </a:solidFill>
                <a:latin typeface="Times New Roman" pitchFamily="18" charset="0"/>
                <a:cs typeface="Times New Roman" pitchFamily="18" charset="0"/>
              </a:rPr>
              <a:t>			        </a:t>
            </a:r>
          </a:p>
          <a:p>
            <a:pPr algn="ctr"/>
            <a:r>
              <a:rPr lang="en-US" sz="3300" dirty="0">
                <a:solidFill>
                  <a:schemeClr val="tx1"/>
                </a:solidFill>
                <a:latin typeface="Times New Roman" pitchFamily="18" charset="0"/>
                <a:cs typeface="Times New Roman" pitchFamily="18" charset="0"/>
              </a:rPr>
              <a:t>PRESENTED BY</a:t>
            </a:r>
          </a:p>
          <a:p>
            <a:pPr algn="ctr">
              <a:lnSpc>
                <a:spcPct val="150000"/>
              </a:lnSpc>
            </a:pPr>
            <a:r>
              <a:rPr lang="en-US" sz="3300" dirty="0">
                <a:solidFill>
                  <a:schemeClr val="tx1"/>
                </a:solidFill>
                <a:latin typeface="Times New Roman" pitchFamily="18" charset="0"/>
                <a:cs typeface="Times New Roman" pitchFamily="18" charset="0"/>
              </a:rPr>
              <a:t>   SHUBHASHINI PAL	     [1KT17IS019]</a:t>
            </a:r>
            <a:br>
              <a:rPr lang="en-US" sz="3300" dirty="0">
                <a:solidFill>
                  <a:schemeClr val="tx1"/>
                </a:solidFill>
                <a:latin typeface="Times New Roman" pitchFamily="18" charset="0"/>
                <a:cs typeface="Times New Roman" pitchFamily="18" charset="0"/>
              </a:rPr>
            </a:br>
            <a:endParaRPr lang="en-US" sz="3300" dirty="0">
              <a:solidFill>
                <a:schemeClr val="tx1"/>
              </a:solidFill>
              <a:latin typeface="Times New Roman" pitchFamily="18" charset="0"/>
              <a:cs typeface="Times New Roman" pitchFamily="18" charset="0"/>
            </a:endParaRPr>
          </a:p>
          <a:p>
            <a:pPr algn="ctr">
              <a:lnSpc>
                <a:spcPct val="150000"/>
              </a:lnSpc>
            </a:pPr>
            <a:r>
              <a:rPr lang="en-IN" sz="3300" dirty="0">
                <a:solidFill>
                  <a:schemeClr val="tx1"/>
                </a:solidFill>
                <a:latin typeface="Times New Roman" panose="02020603050405020304" pitchFamily="18" charset="0"/>
                <a:cs typeface="Times New Roman" panose="02020603050405020304" pitchFamily="18" charset="0"/>
              </a:rPr>
              <a:t>UNDER THE GUIDANCE OF</a:t>
            </a:r>
          </a:p>
          <a:p>
            <a:pPr algn="ctr"/>
            <a:r>
              <a:rPr lang="en-IN" sz="3300" b="1" cap="none" dirty="0">
                <a:solidFill>
                  <a:schemeClr val="tx1"/>
                </a:solidFill>
                <a:latin typeface="Times New Roman" panose="02020603050405020304" pitchFamily="18" charset="0"/>
                <a:cs typeface="Times New Roman" panose="02020603050405020304" pitchFamily="18" charset="0"/>
              </a:rPr>
              <a:t>Mrs</a:t>
            </a:r>
            <a:r>
              <a:rPr lang="en-IN" sz="3300" b="1" dirty="0">
                <a:solidFill>
                  <a:schemeClr val="tx1"/>
                </a:solidFill>
                <a:latin typeface="Times New Roman" panose="02020603050405020304" pitchFamily="18" charset="0"/>
                <a:cs typeface="Times New Roman" panose="02020603050405020304" pitchFamily="18" charset="0"/>
              </a:rPr>
              <a:t>. SHRUTI B P</a:t>
            </a:r>
          </a:p>
          <a:p>
            <a:pPr algn="ctr"/>
            <a:r>
              <a:rPr lang="en-IN" sz="3300" dirty="0">
                <a:solidFill>
                  <a:schemeClr val="tx1"/>
                </a:solidFill>
                <a:latin typeface="Times New Roman" panose="02020603050405020304" pitchFamily="18" charset="0"/>
                <a:cs typeface="Times New Roman" panose="02020603050405020304" pitchFamily="18" charset="0"/>
              </a:rPr>
              <a:t>ASSISTANT PROFESSOR,</a:t>
            </a:r>
          </a:p>
          <a:p>
            <a:pPr algn="ctr"/>
            <a:r>
              <a:rPr lang="en-IN" sz="3300" dirty="0">
                <a:solidFill>
                  <a:schemeClr val="tx1"/>
                </a:solidFill>
                <a:latin typeface="Times New Roman" panose="02020603050405020304" pitchFamily="18" charset="0"/>
                <a:cs typeface="Times New Roman" panose="02020603050405020304" pitchFamily="18" charset="0"/>
              </a:rPr>
              <a:t>DEPT. OF ISE</a:t>
            </a:r>
          </a:p>
          <a:p>
            <a:pPr algn="ctr"/>
            <a:endParaRPr lang="en-IN" sz="1800" dirty="0">
              <a:solidFill>
                <a:schemeClr val="tx1"/>
              </a:solidFill>
              <a:latin typeface="Times New Roman" panose="02020603050405020304" pitchFamily="18" charset="0"/>
              <a:cs typeface="Times New Roman" panose="02020603050405020304" pitchFamily="18" charset="0"/>
            </a:endParaRPr>
          </a:p>
          <a:p>
            <a:r>
              <a:rPr lang="en-IN" sz="1800" dirty="0">
                <a:solidFill>
                  <a:schemeClr val="tx1"/>
                </a:solidFill>
                <a:latin typeface="Times New Roman" panose="02020603050405020304" pitchFamily="18" charset="0"/>
                <a:cs typeface="Times New Roman" panose="02020603050405020304" pitchFamily="18" charset="0"/>
              </a:rPr>
              <a:t>       Dept of ISE, SKIT   			                                                                                                                      	2020-21</a:t>
            </a:r>
          </a:p>
          <a:p>
            <a:endParaRPr lang="en-IN" dirty="0">
              <a:solidFill>
                <a:schemeClr val="tx1"/>
              </a:solidFill>
            </a:endParaRPr>
          </a:p>
        </p:txBody>
      </p:sp>
      <p:pic>
        <p:nvPicPr>
          <p:cNvPr id="4" name="Picture 3">
            <a:extLst>
              <a:ext uri="{FF2B5EF4-FFF2-40B4-BE49-F238E27FC236}">
                <a16:creationId xmlns:a16="http://schemas.microsoft.com/office/drawing/2014/main" id="{74B24D79-A8DD-43B2-8620-78D32D5921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pic>
        <p:nvPicPr>
          <p:cNvPr id="5" name="Picture 4" descr="㿷ᛷ਴">
            <a:extLst>
              <a:ext uri="{FF2B5EF4-FFF2-40B4-BE49-F238E27FC236}">
                <a16:creationId xmlns:a16="http://schemas.microsoft.com/office/drawing/2014/main" id="{AC0A20F9-D6CC-4DFC-8C4B-ADD05EC483D3}"/>
              </a:ext>
            </a:extLst>
          </p:cNvPr>
          <p:cNvPicPr/>
          <p:nvPr/>
        </p:nvPicPr>
        <p:blipFill>
          <a:blip r:embed="rId3"/>
          <a:srcRect/>
          <a:stretch>
            <a:fillRect/>
          </a:stretch>
        </p:blipFill>
        <p:spPr bwMode="auto">
          <a:xfrm>
            <a:off x="1" y="-136"/>
            <a:ext cx="899592" cy="768744"/>
          </a:xfrm>
          <a:prstGeom prst="rect">
            <a:avLst/>
          </a:prstGeom>
          <a:noFill/>
          <a:ln w="9525">
            <a:noFill/>
            <a:miter lim="800000"/>
            <a:headEnd/>
            <a:tailEnd/>
          </a:ln>
        </p:spPr>
      </p:pic>
    </p:spTree>
    <p:extLst>
      <p:ext uri="{BB962C8B-B14F-4D97-AF65-F5344CB8AC3E}">
        <p14:creationId xmlns:p14="http://schemas.microsoft.com/office/powerpoint/2010/main" val="2652317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FD0BF-ADD5-492E-A67D-4C1E76C815C5}"/>
              </a:ext>
            </a:extLst>
          </p:cNvPr>
          <p:cNvSpPr>
            <a:spLocks noGrp="1"/>
          </p:cNvSpPr>
          <p:nvPr>
            <p:ph type="title"/>
          </p:nvPr>
        </p:nvSpPr>
        <p:spPr>
          <a:xfrm>
            <a:off x="1229337" y="301995"/>
            <a:ext cx="9905998" cy="656366"/>
          </a:xfrm>
        </p:spPr>
        <p:txBody>
          <a:bodyPr/>
          <a:lstStyle/>
          <a:p>
            <a:r>
              <a:rPr lang="en-US" dirty="0"/>
              <a:t>				</a:t>
            </a:r>
            <a:r>
              <a:rPr lang="en-US" sz="2800" b="1" dirty="0">
                <a:latin typeface="Times New Roman" panose="02020603050405020304" pitchFamily="18" charset="0"/>
                <a:cs typeface="Times New Roman" panose="02020603050405020304" pitchFamily="18" charset="0"/>
              </a:rPr>
              <a:t>OVERVIEW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78F3F43-2243-4DEF-A686-C09ABACE9BA7}"/>
              </a:ext>
            </a:extLst>
          </p:cNvPr>
          <p:cNvSpPr>
            <a:spLocks noGrp="1"/>
          </p:cNvSpPr>
          <p:nvPr>
            <p:ph idx="1"/>
          </p:nvPr>
        </p:nvSpPr>
        <p:spPr>
          <a:xfrm>
            <a:off x="1290882" y="1053732"/>
            <a:ext cx="9905999" cy="5373445"/>
          </a:xfrm>
        </p:spPr>
        <p:txBody>
          <a:bodyPr>
            <a:normAutofit fontScale="25000" lnSpcReduction="20000"/>
          </a:bodyPr>
          <a:lstStyle/>
          <a:p>
            <a:pPr marL="1143000" indent="-1143000">
              <a:buFont typeface="Wingdings" pitchFamily="2" charset="2"/>
              <a:buChar char="v"/>
            </a:pPr>
            <a:r>
              <a:rPr lang="en-IN" sz="9600" dirty="0">
                <a:solidFill>
                  <a:schemeClr val="tx1"/>
                </a:solidFill>
                <a:latin typeface="Times New Roman" panose="02020603050405020304" pitchFamily="18" charset="0"/>
                <a:cs typeface="Times New Roman" panose="02020603050405020304" pitchFamily="18" charset="0"/>
              </a:rPr>
              <a:t>Abstract</a:t>
            </a:r>
          </a:p>
          <a:p>
            <a:pPr marL="1143000" indent="-1143000">
              <a:buFont typeface="Wingdings" pitchFamily="2" charset="2"/>
              <a:buChar char="v"/>
            </a:pPr>
            <a:r>
              <a:rPr lang="en-IN" sz="9600" dirty="0">
                <a:solidFill>
                  <a:schemeClr val="tx1"/>
                </a:solidFill>
                <a:latin typeface="Times New Roman" panose="02020603050405020304" pitchFamily="18" charset="0"/>
                <a:cs typeface="Times New Roman" panose="02020603050405020304" pitchFamily="18" charset="0"/>
              </a:rPr>
              <a:t>Introduction</a:t>
            </a:r>
          </a:p>
          <a:p>
            <a:pPr marL="1143000" indent="-1143000">
              <a:buFont typeface="Wingdings" pitchFamily="2" charset="2"/>
              <a:buChar char="v"/>
            </a:pPr>
            <a:r>
              <a:rPr lang="en-IN" sz="9600" dirty="0">
                <a:solidFill>
                  <a:schemeClr val="tx1"/>
                </a:solidFill>
                <a:latin typeface="Times New Roman" panose="02020603050405020304" pitchFamily="18" charset="0"/>
                <a:cs typeface="Times New Roman" panose="02020603050405020304" pitchFamily="18" charset="0"/>
              </a:rPr>
              <a:t>Literature Survey </a:t>
            </a:r>
          </a:p>
          <a:p>
            <a:pPr marL="1143000" indent="-1143000">
              <a:buFont typeface="Wingdings" pitchFamily="2" charset="2"/>
              <a:buChar char="v"/>
            </a:pPr>
            <a:r>
              <a:rPr lang="en-IN" sz="9600" dirty="0">
                <a:solidFill>
                  <a:schemeClr val="tx1"/>
                </a:solidFill>
                <a:latin typeface="Times New Roman" panose="02020603050405020304" pitchFamily="18" charset="0"/>
                <a:cs typeface="Times New Roman" panose="02020603050405020304" pitchFamily="18" charset="0"/>
              </a:rPr>
              <a:t>Objectives of Proposed System</a:t>
            </a:r>
          </a:p>
          <a:p>
            <a:pPr marL="1143000" indent="-1143000">
              <a:buFont typeface="Wingdings" pitchFamily="2" charset="2"/>
              <a:buChar char="v"/>
            </a:pPr>
            <a:r>
              <a:rPr lang="en-IN" sz="9600" dirty="0">
                <a:solidFill>
                  <a:schemeClr val="tx1"/>
                </a:solidFill>
                <a:latin typeface="Times New Roman" panose="02020603050405020304" pitchFamily="18" charset="0"/>
                <a:cs typeface="Times New Roman" panose="02020603050405020304" pitchFamily="18" charset="0"/>
              </a:rPr>
              <a:t>Methodology</a:t>
            </a:r>
          </a:p>
          <a:p>
            <a:pPr marL="1143000" indent="-1143000">
              <a:buFont typeface="Wingdings" pitchFamily="2" charset="2"/>
              <a:buChar char="v"/>
            </a:pPr>
            <a:r>
              <a:rPr lang="en-IN" sz="9600" dirty="0">
                <a:solidFill>
                  <a:schemeClr val="tx1"/>
                </a:solidFill>
                <a:latin typeface="Times New Roman" panose="02020603050405020304" pitchFamily="18" charset="0"/>
                <a:cs typeface="Times New Roman" panose="02020603050405020304" pitchFamily="18" charset="0"/>
              </a:rPr>
              <a:t>Result</a:t>
            </a:r>
          </a:p>
          <a:p>
            <a:pPr marL="1143000" indent="-1143000">
              <a:buFont typeface="Wingdings" pitchFamily="2" charset="2"/>
              <a:buChar char="v"/>
            </a:pPr>
            <a:r>
              <a:rPr lang="en-IN" sz="9600" dirty="0">
                <a:latin typeface="Times New Roman" panose="02020603050405020304" pitchFamily="18" charset="0"/>
                <a:cs typeface="Times New Roman" panose="02020603050405020304" pitchFamily="18" charset="0"/>
              </a:rPr>
              <a:t>Conclusion</a:t>
            </a:r>
          </a:p>
          <a:p>
            <a:pPr marL="1143000" indent="-1143000">
              <a:buFont typeface="Wingdings" pitchFamily="2" charset="2"/>
              <a:buChar char="v"/>
            </a:pPr>
            <a:r>
              <a:rPr lang="en-IN" sz="9600" dirty="0">
                <a:latin typeface="Times New Roman" panose="02020603050405020304" pitchFamily="18" charset="0"/>
                <a:cs typeface="Times New Roman" panose="02020603050405020304" pitchFamily="18" charset="0"/>
              </a:rPr>
              <a:t>Future </a:t>
            </a:r>
            <a:r>
              <a:rPr lang="en-US" sz="9600" dirty="0">
                <a:latin typeface="Times New Roman" panose="02020603050405020304" pitchFamily="18" charset="0"/>
                <a:cs typeface="Times New Roman" panose="02020603050405020304" pitchFamily="18" charset="0"/>
              </a:rPr>
              <a:t>Enhancement </a:t>
            </a:r>
            <a:endParaRPr lang="en-IN" sz="9600" dirty="0">
              <a:solidFill>
                <a:schemeClr val="tx1"/>
              </a:solidFill>
              <a:latin typeface="Times New Roman" panose="02020603050405020304" pitchFamily="18" charset="0"/>
              <a:cs typeface="Times New Roman" panose="02020603050405020304" pitchFamily="18" charset="0"/>
            </a:endParaRPr>
          </a:p>
          <a:p>
            <a:pPr marL="1143000" indent="-1143000">
              <a:buFont typeface="Wingdings" pitchFamily="2" charset="2"/>
              <a:buChar char="v"/>
            </a:pPr>
            <a:r>
              <a:rPr lang="en-IN" sz="9600" dirty="0">
                <a:solidFill>
                  <a:schemeClr val="tx1"/>
                </a:solidFill>
                <a:latin typeface="Times New Roman" panose="02020603050405020304" pitchFamily="18" charset="0"/>
                <a:cs typeface="Times New Roman" panose="02020603050405020304" pitchFamily="18" charset="0"/>
              </a:rPr>
              <a:t>References</a:t>
            </a:r>
          </a:p>
          <a:p>
            <a:pPr marL="0" indent="0">
              <a:buNone/>
            </a:pPr>
            <a:endParaRPr lang="en-IN" sz="9600" dirty="0">
              <a:solidFill>
                <a:schemeClr val="tx1"/>
              </a:solidFill>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solidFill>
                <a:schemeClr val="tx1"/>
              </a:solidFill>
              <a:latin typeface="Times New Roman" panose="02020603050405020304" pitchFamily="18" charset="0"/>
              <a:cs typeface="Times New Roman" panose="02020603050405020304" pitchFamily="18" charset="0"/>
            </a:endParaRPr>
          </a:p>
          <a:p>
            <a:pPr marL="0" indent="0">
              <a:buNone/>
            </a:pPr>
            <a:r>
              <a:rPr lang="en-IN" sz="4000" dirty="0">
                <a:solidFill>
                  <a:schemeClr val="tx1"/>
                </a:solidFill>
                <a:latin typeface="Times New Roman" panose="02020603050405020304" pitchFamily="18" charset="0"/>
                <a:cs typeface="Times New Roman" panose="02020603050405020304" pitchFamily="18" charset="0"/>
              </a:rPr>
              <a:t>Dept of ISE, SKIT   			                                                                                                                                                                           2020-21</a:t>
            </a:r>
          </a:p>
          <a:p>
            <a:endParaRPr lang="en-IN" dirty="0">
              <a:solidFill>
                <a:schemeClr val="tx1"/>
              </a:solidFill>
            </a:endParaRPr>
          </a:p>
          <a:p>
            <a:endParaRPr lang="en-IN" dirty="0"/>
          </a:p>
        </p:txBody>
      </p:sp>
      <p:pic>
        <p:nvPicPr>
          <p:cNvPr id="4" name="Picture 3" descr="㿷ᛷ਴">
            <a:extLst>
              <a:ext uri="{FF2B5EF4-FFF2-40B4-BE49-F238E27FC236}">
                <a16:creationId xmlns:a16="http://schemas.microsoft.com/office/drawing/2014/main" id="{F410F96F-9115-453B-BDCC-DA1968633A90}"/>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D217C9AC-36CC-4F78-80F7-D854B4ED1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4201921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0AE6-906D-4CA9-BA26-3C87EBB720DA}"/>
              </a:ext>
            </a:extLst>
          </p:cNvPr>
          <p:cNvSpPr>
            <a:spLocks noGrp="1"/>
          </p:cNvSpPr>
          <p:nvPr>
            <p:ph type="title"/>
          </p:nvPr>
        </p:nvSpPr>
        <p:spPr>
          <a:xfrm>
            <a:off x="1317259" y="99772"/>
            <a:ext cx="9734672" cy="647574"/>
          </a:xfrm>
        </p:spPr>
        <p:txBody>
          <a:bodyPr>
            <a:normAutofit/>
          </a:bodyPr>
          <a:lstStyle/>
          <a:p>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Abstract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0BDE652-18E0-42E1-94C5-E72DB65EDB6C}"/>
              </a:ext>
            </a:extLst>
          </p:cNvPr>
          <p:cNvSpPr>
            <a:spLocks noGrp="1"/>
          </p:cNvSpPr>
          <p:nvPr>
            <p:ph idx="1"/>
          </p:nvPr>
        </p:nvSpPr>
        <p:spPr>
          <a:xfrm>
            <a:off x="1027112" y="914399"/>
            <a:ext cx="9905999" cy="5205048"/>
          </a:xfrm>
        </p:spPr>
        <p:txBody>
          <a:bodyPr>
            <a:normAutofit/>
          </a:bodyPr>
          <a:lstStyle/>
          <a:p>
            <a:pPr algn="just"/>
            <a:r>
              <a:rPr lang="en-IN" sz="1600" dirty="0">
                <a:latin typeface="Times New Roman" panose="02020603050405020304" pitchFamily="18" charset="0"/>
                <a:cs typeface="Times New Roman" panose="02020603050405020304" pitchFamily="18" charset="0"/>
              </a:rPr>
              <a:t>IoT devices have some special characteristics, such as mobility, limited performance, and distributed deployment, which makes it difﬁcult for traditional centralized access control methods to support access control in current large-scale IoT environment</a:t>
            </a:r>
          </a:p>
          <a:p>
            <a:pPr algn="just"/>
            <a:r>
              <a:rPr lang="en-IN" sz="1600" dirty="0">
                <a:latin typeface="Times New Roman" panose="02020603050405020304" pitchFamily="18" charset="0"/>
                <a:cs typeface="Times New Roman" panose="02020603050405020304" pitchFamily="18" charset="0"/>
              </a:rPr>
              <a:t>To address these challenges, this paper proposes an access control system in </a:t>
            </a:r>
            <a:r>
              <a:rPr lang="en-IN" sz="1600" b="1" dirty="0">
                <a:latin typeface="Times New Roman" panose="02020603050405020304" pitchFamily="18" charset="0"/>
                <a:cs typeface="Times New Roman" panose="02020603050405020304" pitchFamily="18" charset="0"/>
              </a:rPr>
              <a:t>IoT named fabric-iot</a:t>
            </a:r>
            <a:r>
              <a:rPr lang="en-IN" sz="1600" dirty="0">
                <a:latin typeface="Times New Roman" panose="02020603050405020304" pitchFamily="18" charset="0"/>
                <a:cs typeface="Times New Roman" panose="02020603050405020304" pitchFamily="18" charset="0"/>
              </a:rPr>
              <a:t>, which is based on Hyperledger Fabric blockchain frame work and attributed based access control (ABAC).</a:t>
            </a:r>
          </a:p>
          <a:p>
            <a:pPr algn="just"/>
            <a:r>
              <a:rPr lang="en-US" sz="1600" dirty="0">
                <a:latin typeface="Times New Roman" panose="02020603050405020304" pitchFamily="18" charset="0"/>
                <a:cs typeface="Times New Roman" panose="02020603050405020304" pitchFamily="18" charset="0"/>
              </a:rPr>
              <a:t>The system contains three kinds of smart contracts, which are Device Contract (DC), Policy Contract (PC), and Access Contract (AC).</a:t>
            </a:r>
          </a:p>
          <a:p>
            <a:pPr algn="just"/>
            <a:r>
              <a:rPr lang="en-US" sz="1600" dirty="0">
                <a:latin typeface="Times New Roman" panose="02020603050405020304" pitchFamily="18" charset="0"/>
                <a:cs typeface="Times New Roman" panose="02020603050405020304" pitchFamily="18" charset="0"/>
              </a:rPr>
              <a:t>DC provides a method to store the URL of resource data produced by devices, and a method to query it.</a:t>
            </a:r>
          </a:p>
          <a:p>
            <a:pPr algn="just"/>
            <a:r>
              <a:rPr lang="en-US" sz="1600" dirty="0">
                <a:latin typeface="Times New Roman" panose="02020603050405020304" pitchFamily="18" charset="0"/>
                <a:cs typeface="Times New Roman" panose="02020603050405020304" pitchFamily="18" charset="0"/>
              </a:rPr>
              <a:t>PC provides functions to manage ABAC policies for admin users.</a:t>
            </a:r>
          </a:p>
          <a:p>
            <a:pPr algn="just"/>
            <a:r>
              <a:rPr lang="en-US" sz="1600" dirty="0">
                <a:latin typeface="Times New Roman" panose="02020603050405020304" pitchFamily="18" charset="0"/>
                <a:cs typeface="Times New Roman" panose="02020603050405020304" pitchFamily="18" charset="0"/>
              </a:rPr>
              <a:t>AC is the core program to implement an access control method for normal users</a:t>
            </a:r>
          </a:p>
          <a:p>
            <a:pPr algn="just"/>
            <a:r>
              <a:rPr lang="en-US" sz="1600" dirty="0">
                <a:latin typeface="Times New Roman" panose="02020603050405020304" pitchFamily="18" charset="0"/>
                <a:cs typeface="Times New Roman" panose="02020603050405020304" pitchFamily="18" charset="0"/>
              </a:rPr>
              <a:t>Combined with ABAC and blockchain technology, fabric-iot can provide decentralized, ﬁne-grained and dynamic access control management in IoT.</a:t>
            </a:r>
          </a:p>
          <a:p>
            <a:pPr algn="just"/>
            <a:r>
              <a:rPr lang="en-IN" sz="1600" dirty="0">
                <a:latin typeface="Times New Roman" panose="02020603050405020304" pitchFamily="18" charset="0"/>
                <a:cs typeface="Times New Roman" panose="02020603050405020304" pitchFamily="18" charset="0"/>
              </a:rPr>
              <a:t>The results show that fabric-iot can maintain high throughput in largescale request environment and reach consensus efﬁciently in a distributed system to ensure data consistency.</a:t>
            </a:r>
          </a:p>
          <a:p>
            <a:pPr marL="0" indent="0" algn="just">
              <a:buNone/>
            </a:pPr>
            <a:endParaRPr lang="en-IN" sz="14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IN" sz="1600" dirty="0">
              <a:latin typeface="Times New Roman" panose="02020603050405020304" pitchFamily="18" charset="0"/>
              <a:cs typeface="Times New Roman" panose="02020603050405020304" pitchFamily="18" charset="0"/>
            </a:endParaRPr>
          </a:p>
        </p:txBody>
      </p:sp>
      <p:pic>
        <p:nvPicPr>
          <p:cNvPr id="4" name="Picture 3" descr="㿷ᛷ਴">
            <a:extLst>
              <a:ext uri="{FF2B5EF4-FFF2-40B4-BE49-F238E27FC236}">
                <a16:creationId xmlns:a16="http://schemas.microsoft.com/office/drawing/2014/main" id="{E10CEC87-F81C-40BA-B506-243A1449E37A}"/>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17D5795F-B12D-4A13-8E12-B116A77F2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1059113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10A59-0F68-403D-82B9-0F086EBC99BF}"/>
              </a:ext>
            </a:extLst>
          </p:cNvPr>
          <p:cNvSpPr>
            <a:spLocks noGrp="1"/>
          </p:cNvSpPr>
          <p:nvPr>
            <p:ph type="title"/>
          </p:nvPr>
        </p:nvSpPr>
        <p:spPr>
          <a:xfrm>
            <a:off x="1299674" y="108564"/>
            <a:ext cx="9905998" cy="629990"/>
          </a:xfrm>
        </p:spPr>
        <p:txBody>
          <a:bodyPr/>
          <a:lstStyle/>
          <a:p>
            <a:pPr algn="just"/>
            <a:r>
              <a:rPr lang="en-US" dirty="0"/>
              <a:t>			</a:t>
            </a:r>
            <a:r>
              <a:rPr lang="en-US" sz="2800" b="1" dirty="0">
                <a:latin typeface="Times New Roman" panose="02020603050405020304" pitchFamily="18" charset="0"/>
                <a:cs typeface="Times New Roman" panose="02020603050405020304" pitchFamily="18" charset="0"/>
              </a:rPr>
              <a:t>Introduction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4833C9A-35B5-48E0-B403-352089FE83B5}"/>
              </a:ext>
            </a:extLst>
          </p:cNvPr>
          <p:cNvSpPr>
            <a:spLocks noGrp="1"/>
          </p:cNvSpPr>
          <p:nvPr>
            <p:ph idx="1"/>
          </p:nvPr>
        </p:nvSpPr>
        <p:spPr>
          <a:xfrm>
            <a:off x="1063869" y="1099037"/>
            <a:ext cx="9983542" cy="5249008"/>
          </a:xfrm>
        </p:spPr>
        <p:txBody>
          <a:bodyPr>
            <a:normAutofit/>
          </a:bodyPr>
          <a:lstStyle/>
          <a:p>
            <a:pPr algn="just">
              <a:lnSpc>
                <a:spcPct val="150000"/>
              </a:lnSpc>
            </a:pPr>
            <a:r>
              <a:rPr lang="en-IN" sz="1600" dirty="0">
                <a:latin typeface="Times New Roman" panose="02020603050405020304" pitchFamily="18" charset="0"/>
                <a:cs typeface="Times New Roman" panose="02020603050405020304" pitchFamily="18" charset="0"/>
              </a:rPr>
              <a:t>In modern era with the developments of Internet and computer hardware, more and more devices are connected with each other through wireless network, making the scale of Internet of Things(IoT) larger and larger.</a:t>
            </a:r>
          </a:p>
          <a:p>
            <a:pPr algn="just">
              <a:lnSpc>
                <a:spcPct val="150000"/>
              </a:lnSpc>
            </a:pPr>
            <a:r>
              <a:rPr lang="en-US" sz="1600" dirty="0">
                <a:latin typeface="Times New Roman" panose="02020603050405020304" pitchFamily="18" charset="0"/>
                <a:cs typeface="Times New Roman" panose="02020603050405020304" pitchFamily="18" charset="0"/>
              </a:rPr>
              <a:t>IoT is a distributed network composed of a large number of sensors and gateways. IoT devices interact with the environment all the time, producing different types of data resources, such as image, audio, video, digital signal, etc. </a:t>
            </a:r>
            <a:endParaRPr lang="en-IN" sz="1600" dirty="0">
              <a:latin typeface="Times New Roman" panose="02020603050405020304" pitchFamily="18" charset="0"/>
              <a:cs typeface="Times New Roman" panose="02020603050405020304" pitchFamily="18" charset="0"/>
            </a:endParaRPr>
          </a:p>
          <a:p>
            <a:pPr algn="just">
              <a:lnSpc>
                <a:spcPct val="150000"/>
              </a:lnSpc>
            </a:pPr>
            <a:r>
              <a:rPr lang="en-US" sz="1600" dirty="0">
                <a:latin typeface="Times New Roman" panose="02020603050405020304" pitchFamily="18" charset="0"/>
                <a:cs typeface="Times New Roman" panose="02020603050405020304" pitchFamily="18" charset="0"/>
              </a:rPr>
              <a:t> The resources produced by IoT devices often contain privacy and sensitive data, so there will be serious consequences when they are obtained illegally. The access control technology is an important means to protect resources, which has been widely used in various systems and environments. </a:t>
            </a:r>
          </a:p>
          <a:p>
            <a:pPr algn="just">
              <a:lnSpc>
                <a:spcPct val="150000"/>
              </a:lnSpc>
            </a:pPr>
            <a:r>
              <a:rPr lang="en-US" sz="1600" dirty="0">
                <a:latin typeface="Times New Roman" panose="02020603050405020304" pitchFamily="18" charset="0"/>
                <a:cs typeface="Times New Roman" panose="02020603050405020304" pitchFamily="18" charset="0"/>
              </a:rPr>
              <a:t>Traditional access control methods include discretionary access control (DAC), identity-based access control (IBAC)</a:t>
            </a:r>
            <a:r>
              <a:rPr lang="en-US" sz="1600" dirty="0"/>
              <a:t>,</a:t>
            </a:r>
            <a:r>
              <a:rPr lang="en-US" sz="1600" dirty="0">
                <a:effectLst/>
                <a:latin typeface="Times New Roman" panose="02020603050405020304" pitchFamily="18" charset="0"/>
                <a:ea typeface="Times New Roman" panose="02020603050405020304" pitchFamily="18" charset="0"/>
              </a:rPr>
              <a:t> and</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mandatory</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access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control</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(MAC),</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etc.</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But</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these</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methods are all centralized designs, which have the disadvantages </a:t>
            </a:r>
            <a:r>
              <a:rPr lang="en-US" sz="1600" spc="-30" dirty="0">
                <a:effectLst/>
                <a:latin typeface="Times New Roman" panose="02020603050405020304" pitchFamily="18" charset="0"/>
                <a:ea typeface="Times New Roman" panose="02020603050405020304" pitchFamily="18" charset="0"/>
              </a:rPr>
              <a:t>of </a:t>
            </a:r>
            <a:r>
              <a:rPr lang="en-US" sz="1600" dirty="0">
                <a:effectLst/>
                <a:latin typeface="Times New Roman" panose="02020603050405020304" pitchFamily="18" charset="0"/>
                <a:ea typeface="Times New Roman" panose="02020603050405020304" pitchFamily="18" charset="0"/>
              </a:rPr>
              <a:t>single-point failure, difficult to expand, low reliability </a:t>
            </a:r>
            <a:r>
              <a:rPr lang="en-US" sz="1600" spc="-30" dirty="0">
                <a:effectLst/>
                <a:latin typeface="Times New Roman" panose="02020603050405020304" pitchFamily="18" charset="0"/>
                <a:ea typeface="Times New Roman" panose="02020603050405020304" pitchFamily="18" charset="0"/>
              </a:rPr>
              <a:t>and </a:t>
            </a:r>
            <a:r>
              <a:rPr lang="en-US" sz="1600" dirty="0">
                <a:effectLst/>
                <a:latin typeface="Times New Roman" panose="02020603050405020304" pitchFamily="18" charset="0"/>
                <a:ea typeface="Times New Roman" panose="02020603050405020304" pitchFamily="18" charset="0"/>
              </a:rPr>
              <a:t>low throughput</a:t>
            </a:r>
            <a:endParaRPr lang="en-US" sz="1600" dirty="0"/>
          </a:p>
          <a:p>
            <a:pPr algn="just">
              <a:lnSpc>
                <a:spcPct val="150000"/>
              </a:lnSpc>
            </a:pPr>
            <a:r>
              <a:rPr lang="en-US" sz="1600" dirty="0">
                <a:effectLst/>
                <a:latin typeface="Times New Roman" panose="02020603050405020304" pitchFamily="18" charset="0"/>
                <a:ea typeface="Times New Roman" panose="02020603050405020304" pitchFamily="18" charset="0"/>
              </a:rPr>
              <a:t>IoT devices may belong to </a:t>
            </a:r>
            <a:r>
              <a:rPr lang="en-US" sz="1600" spc="-15" dirty="0">
                <a:effectLst/>
                <a:latin typeface="Times New Roman" panose="02020603050405020304" pitchFamily="18" charset="0"/>
                <a:ea typeface="Times New Roman" panose="02020603050405020304" pitchFamily="18" charset="0"/>
              </a:rPr>
              <a:t>different </a:t>
            </a:r>
            <a:r>
              <a:rPr lang="en-US" sz="1600" dirty="0">
                <a:effectLst/>
                <a:latin typeface="Times New Roman" panose="02020603050405020304" pitchFamily="18" charset="0"/>
                <a:ea typeface="Times New Roman" panose="02020603050405020304" pitchFamily="18" charset="0"/>
              </a:rPr>
              <a:t>organizations or users, and probably have mobility and </a:t>
            </a:r>
            <a:r>
              <a:rPr lang="en-US" sz="1600" spc="-20" dirty="0">
                <a:effectLst/>
                <a:latin typeface="Times New Roman" panose="02020603050405020304" pitchFamily="18" charset="0"/>
                <a:ea typeface="Times New Roman" panose="02020603050405020304" pitchFamily="18" charset="0"/>
              </a:rPr>
              <a:t>lim</a:t>
            </a:r>
            <a:r>
              <a:rPr lang="en-US" sz="1600" dirty="0">
                <a:effectLst/>
                <a:latin typeface="Times New Roman" panose="02020603050405020304" pitchFamily="18" charset="0"/>
                <a:ea typeface="Times New Roman" panose="02020603050405020304" pitchFamily="18" charset="0"/>
              </a:rPr>
              <a:t>ited</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performance,</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which</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make</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centralized</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access</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control</a:t>
            </a:r>
            <a:r>
              <a:rPr lang="en-US" sz="1600" spc="-35" dirty="0">
                <a:effectLst/>
                <a:latin typeface="Times New Roman" panose="02020603050405020304" pitchFamily="18" charset="0"/>
                <a:ea typeface="Times New Roman" panose="02020603050405020304" pitchFamily="18" charset="0"/>
              </a:rPr>
              <a:t> </a:t>
            </a:r>
            <a:r>
              <a:rPr lang="en-US" sz="1600" spc="-20" dirty="0">
                <a:effectLst/>
                <a:latin typeface="Times New Roman" panose="02020603050405020304" pitchFamily="18" charset="0"/>
                <a:ea typeface="Times New Roman" panose="02020603050405020304" pitchFamily="18" charset="0"/>
              </a:rPr>
              <a:t>dif</a:t>
            </a:r>
            <a:r>
              <a:rPr lang="en-US" sz="1600" dirty="0">
                <a:effectLst/>
                <a:latin typeface="Times New Roman" panose="02020603050405020304" pitchFamily="18" charset="0"/>
                <a:ea typeface="Times New Roman" panose="02020603050405020304" pitchFamily="18" charset="0"/>
              </a:rPr>
              <a:t>ficult to meet the requirements of access control in IoT</a:t>
            </a:r>
            <a:r>
              <a:rPr lang="en-US" sz="1600" spc="-110" dirty="0">
                <a:effectLst/>
                <a:latin typeface="Times New Roman" panose="02020603050405020304" pitchFamily="18" charset="0"/>
                <a:ea typeface="Times New Roman" panose="02020603050405020304" pitchFamily="18" charset="0"/>
              </a:rPr>
              <a:t> </a:t>
            </a:r>
            <a:r>
              <a:rPr lang="en-US" sz="1600" spc="-25" dirty="0">
                <a:effectLst/>
                <a:latin typeface="Times New Roman" panose="02020603050405020304" pitchFamily="18" charset="0"/>
                <a:ea typeface="Times New Roman" panose="02020603050405020304" pitchFamily="18" charset="0"/>
              </a:rPr>
              <a:t>envi</a:t>
            </a:r>
            <a:r>
              <a:rPr lang="en-US" sz="1600" dirty="0">
                <a:effectLst/>
                <a:latin typeface="Times New Roman" panose="02020603050405020304" pitchFamily="18" charset="0"/>
                <a:ea typeface="Times New Roman" panose="02020603050405020304" pitchFamily="18" charset="0"/>
              </a:rPr>
              <a:t>ronment.</a:t>
            </a:r>
            <a:r>
              <a:rPr lang="en-US" sz="1600" spc="-65" dirty="0">
                <a:effectLst/>
                <a:latin typeface="Times New Roman" panose="02020603050405020304" pitchFamily="18" charset="0"/>
                <a:ea typeface="Times New Roman" panose="02020603050405020304" pitchFamily="18" charset="0"/>
              </a:rPr>
              <a:t> </a:t>
            </a:r>
          </a:p>
        </p:txBody>
      </p:sp>
      <p:pic>
        <p:nvPicPr>
          <p:cNvPr id="5" name="Picture 4" descr="㿷ᛷ਴">
            <a:extLst>
              <a:ext uri="{FF2B5EF4-FFF2-40B4-BE49-F238E27FC236}">
                <a16:creationId xmlns:a16="http://schemas.microsoft.com/office/drawing/2014/main" id="{5421DB76-967F-498B-98FC-8B7CE9F99F0D}"/>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6" name="Picture 5">
            <a:extLst>
              <a:ext uri="{FF2B5EF4-FFF2-40B4-BE49-F238E27FC236}">
                <a16:creationId xmlns:a16="http://schemas.microsoft.com/office/drawing/2014/main" id="{9E194BC3-6A33-4C95-8FA0-C9BA772042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688500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0B86-87CA-4521-BB94-021B818ED69E}"/>
              </a:ext>
            </a:extLst>
          </p:cNvPr>
          <p:cNvSpPr>
            <a:spLocks noGrp="1"/>
          </p:cNvSpPr>
          <p:nvPr>
            <p:ph type="title"/>
          </p:nvPr>
        </p:nvSpPr>
        <p:spPr>
          <a:xfrm>
            <a:off x="1429801" y="88636"/>
            <a:ext cx="9305607" cy="418974"/>
          </a:xfrm>
        </p:spPr>
        <p:txBody>
          <a:bodyPr>
            <a:normAutofit fontScale="90000"/>
          </a:bodyPr>
          <a:lstStyle/>
          <a:p>
            <a:r>
              <a:rPr lang="en-US" sz="3100" cap="none" dirty="0">
                <a:latin typeface="Times New Roman" panose="02020603050405020304" pitchFamily="18" charset="0"/>
                <a:cs typeface="Times New Roman" panose="02020603050405020304" pitchFamily="18" charset="0"/>
              </a:rPr>
              <a:t>cont.</a:t>
            </a:r>
            <a:r>
              <a:rPr lang="en-US" cap="none"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591E7C-D26A-45DC-9424-6D81F8B7A27E}"/>
              </a:ext>
            </a:extLst>
          </p:cNvPr>
          <p:cNvSpPr>
            <a:spLocks noGrp="1"/>
          </p:cNvSpPr>
          <p:nvPr>
            <p:ph idx="1"/>
          </p:nvPr>
        </p:nvSpPr>
        <p:spPr>
          <a:xfrm>
            <a:off x="1046871" y="753208"/>
            <a:ext cx="10303997" cy="5884984"/>
          </a:xfrm>
        </p:spPr>
        <p:txBody>
          <a:bodyPr>
            <a:noAutofit/>
          </a:bodyPr>
          <a:lstStyle/>
          <a:p>
            <a:pPr algn="just">
              <a:lnSpc>
                <a:spcPct val="170000"/>
              </a:lnSpc>
            </a:pPr>
            <a:r>
              <a:rPr lang="en-US" sz="1600" dirty="0">
                <a:effectLst/>
                <a:latin typeface="Times New Roman" panose="02020603050405020304" pitchFamily="18" charset="0"/>
                <a:ea typeface="Times New Roman" panose="02020603050405020304" pitchFamily="18" charset="0"/>
              </a:rPr>
              <a:t>Attributed</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based</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access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control</a:t>
            </a:r>
            <a:r>
              <a:rPr lang="en-US" sz="1600" spc="-65" dirty="0">
                <a:effectLst/>
                <a:latin typeface="Times New Roman" panose="02020603050405020304" pitchFamily="18" charset="0"/>
                <a:ea typeface="Times New Roman" panose="02020603050405020304" pitchFamily="18" charset="0"/>
              </a:rPr>
              <a:t> </a:t>
            </a:r>
            <a:r>
              <a:rPr lang="en-US" sz="1600" spc="-15" dirty="0">
                <a:effectLst/>
                <a:latin typeface="Times New Roman" panose="02020603050405020304" pitchFamily="18" charset="0"/>
                <a:ea typeface="Times New Roman" panose="02020603050405020304" pitchFamily="18" charset="0"/>
              </a:rPr>
              <a:t>(ABAC)</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is</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logical access</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control</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model,</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which</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controls</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access</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between</a:t>
            </a:r>
            <a:r>
              <a:rPr lang="en-US" sz="1600" spc="-65" dirty="0">
                <a:effectLst/>
                <a:latin typeface="Times New Roman" panose="02020603050405020304" pitchFamily="18" charset="0"/>
                <a:ea typeface="Times New Roman" panose="02020603050405020304" pitchFamily="18" charset="0"/>
              </a:rPr>
              <a:t> </a:t>
            </a:r>
            <a:r>
              <a:rPr lang="en-US" sz="1600" spc="-20" dirty="0">
                <a:effectLst/>
                <a:latin typeface="Times New Roman" panose="02020603050405020304" pitchFamily="18" charset="0"/>
                <a:ea typeface="Times New Roman" panose="02020603050405020304" pitchFamily="18" charset="0"/>
              </a:rPr>
              <a:t>sub- </a:t>
            </a:r>
            <a:r>
              <a:rPr lang="en-US" sz="1600" dirty="0">
                <a:effectLst/>
                <a:latin typeface="Times New Roman" panose="02020603050405020304" pitchFamily="18" charset="0"/>
                <a:ea typeface="Times New Roman" panose="02020603050405020304" pitchFamily="18" charset="0"/>
              </a:rPr>
              <a:t>jects</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objects,</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according</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attributes</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entries,</a:t>
            </a:r>
            <a:r>
              <a:rPr lang="en-US" sz="1600" spc="-50" dirty="0">
                <a:effectLst/>
                <a:latin typeface="Times New Roman" panose="02020603050405020304" pitchFamily="18" charset="0"/>
                <a:ea typeface="Times New Roman" panose="02020603050405020304" pitchFamily="18" charset="0"/>
              </a:rPr>
              <a:t> </a:t>
            </a:r>
            <a:r>
              <a:rPr lang="en-US" sz="1600" spc="-15" dirty="0">
                <a:effectLst/>
                <a:latin typeface="Times New Roman" panose="02020603050405020304" pitchFamily="18" charset="0"/>
                <a:ea typeface="Times New Roman" panose="02020603050405020304" pitchFamily="18" charset="0"/>
              </a:rPr>
              <a:t>opera</a:t>
            </a:r>
            <a:r>
              <a:rPr lang="en-US" sz="1600" dirty="0">
                <a:effectLst/>
                <a:latin typeface="Times New Roman" panose="02020603050405020304" pitchFamily="18" charset="0"/>
                <a:ea typeface="Times New Roman" panose="02020603050405020304" pitchFamily="18" charset="0"/>
              </a:rPr>
              <a:t>tions</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related</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environments</a:t>
            </a:r>
            <a:r>
              <a:rPr lang="en-US" sz="1600" spc="-35" dirty="0">
                <a:latin typeface="Times New Roman" panose="02020603050405020304" pitchFamily="18" charset="0"/>
                <a:ea typeface="Times New Roman" panose="02020603050405020304" pitchFamily="18" charset="0"/>
              </a:rPr>
              <a:t>.</a:t>
            </a:r>
            <a:endParaRPr lang="en-US" sz="1600" spc="-20" dirty="0">
              <a:effectLst/>
              <a:latin typeface="Times New Roman" panose="02020603050405020304" pitchFamily="18" charset="0"/>
              <a:ea typeface="Times New Roman" panose="02020603050405020304" pitchFamily="18" charset="0"/>
            </a:endParaRPr>
          </a:p>
          <a:p>
            <a:pPr algn="just">
              <a:lnSpc>
                <a:spcPct val="150000"/>
              </a:lnSpc>
            </a:pPr>
            <a:r>
              <a:rPr lang="en-US" sz="1600" spc="-20" dirty="0">
                <a:effectLst/>
                <a:latin typeface="Times New Roman" panose="02020603050405020304" pitchFamily="18" charset="0"/>
                <a:ea typeface="Times New Roman" panose="02020603050405020304" pitchFamily="18" charset="0"/>
              </a:rPr>
              <a:t>ABAC</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firstly</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extracts</a:t>
            </a:r>
            <a:r>
              <a:rPr lang="en-US" sz="1600" spc="-35" dirty="0">
                <a:effectLst/>
                <a:latin typeface="Times New Roman" panose="02020603050405020304" pitchFamily="18" charset="0"/>
                <a:ea typeface="Times New Roman" panose="02020603050405020304" pitchFamily="18" charset="0"/>
              </a:rPr>
              <a:t> </a:t>
            </a:r>
            <a:r>
              <a:rPr lang="en-US" sz="1600" spc="-25" dirty="0">
                <a:effectLst/>
                <a:latin typeface="Times New Roman" panose="02020603050405020304" pitchFamily="18" charset="0"/>
                <a:ea typeface="Times New Roman" panose="02020603050405020304" pitchFamily="18" charset="0"/>
              </a:rPr>
              <a:t>the </a:t>
            </a:r>
            <a:r>
              <a:rPr lang="en-US" sz="1600" dirty="0">
                <a:effectLst/>
                <a:latin typeface="Times New Roman" panose="02020603050405020304" pitchFamily="18" charset="0"/>
                <a:ea typeface="Times New Roman" panose="02020603050405020304" pitchFamily="18" charset="0"/>
              </a:rPr>
              <a:t>attributes</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user</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(subject),</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resource</a:t>
            </a:r>
            <a:r>
              <a:rPr lang="en-US" sz="1600" spc="-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(object),</a:t>
            </a:r>
            <a:r>
              <a:rPr lang="en-US" sz="1600" spc="-3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permission</a:t>
            </a:r>
            <a:r>
              <a:rPr lang="en-US" sz="1600" spc="-25" dirty="0">
                <a:effectLst/>
                <a:latin typeface="Times New Roman" panose="02020603050405020304" pitchFamily="18" charset="0"/>
                <a:ea typeface="Times New Roman" panose="02020603050405020304" pitchFamily="18" charset="0"/>
              </a:rPr>
              <a:t> and </a:t>
            </a:r>
            <a:r>
              <a:rPr lang="en-US" sz="1600" dirty="0">
                <a:effectLst/>
                <a:latin typeface="Times New Roman" panose="02020603050405020304" pitchFamily="18" charset="0"/>
                <a:ea typeface="Times New Roman" panose="02020603050405020304" pitchFamily="18" charset="0"/>
              </a:rPr>
              <a:t>environment respectively, then combines the relationship </a:t>
            </a:r>
            <a:r>
              <a:rPr lang="en-US" sz="1600" spc="-35" dirty="0">
                <a:effectLst/>
                <a:latin typeface="Times New Roman" panose="02020603050405020304" pitchFamily="18" charset="0"/>
                <a:ea typeface="Times New Roman" panose="02020603050405020304" pitchFamily="18" charset="0"/>
              </a:rPr>
              <a:t>of </a:t>
            </a:r>
            <a:r>
              <a:rPr lang="en-US" sz="1600" dirty="0">
                <a:effectLst/>
                <a:latin typeface="Times New Roman" panose="02020603050405020304" pitchFamily="18" charset="0"/>
                <a:ea typeface="Times New Roman" panose="02020603050405020304" pitchFamily="18" charset="0"/>
              </a:rPr>
              <a:t>these attributes flexibly, and finally transforms the management</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permission</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into</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management</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3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attribute,</a:t>
            </a:r>
            <a:r>
              <a:rPr lang="en-US" sz="1600" spc="-35" dirty="0">
                <a:effectLst/>
                <a:latin typeface="Times New Roman" panose="02020603050405020304" pitchFamily="18" charset="0"/>
                <a:ea typeface="Times New Roman" panose="02020603050405020304" pitchFamily="18" charset="0"/>
              </a:rPr>
              <a:t> </a:t>
            </a:r>
            <a:r>
              <a:rPr lang="en-US" sz="1600" spc="-20" dirty="0">
                <a:effectLst/>
                <a:latin typeface="Times New Roman" panose="02020603050405020304" pitchFamily="18" charset="0"/>
                <a:ea typeface="Times New Roman" panose="02020603050405020304" pitchFamily="18" charset="0"/>
              </a:rPr>
              <a:t>provid</a:t>
            </a:r>
            <a:r>
              <a:rPr lang="en-US" sz="1600" dirty="0">
                <a:effectLst/>
                <a:latin typeface="Times New Roman" panose="02020603050405020304" pitchFamily="18" charset="0"/>
                <a:ea typeface="Times New Roman" panose="02020603050405020304" pitchFamily="18" charset="0"/>
              </a:rPr>
              <a:t>ing a fine-grained and dynamic access management </a:t>
            </a:r>
            <a:r>
              <a:rPr lang="en-US" sz="1600" spc="-15" dirty="0">
                <a:effectLst/>
                <a:latin typeface="Times New Roman" panose="02020603050405020304" pitchFamily="18" charset="0"/>
                <a:ea typeface="Times New Roman" panose="02020603050405020304" pitchFamily="18" charset="0"/>
              </a:rPr>
              <a:t>method. </a:t>
            </a:r>
          </a:p>
          <a:p>
            <a:pPr algn="just">
              <a:lnSpc>
                <a:spcPct val="150000"/>
              </a:lnSpc>
            </a:pPr>
            <a:r>
              <a:rPr lang="en-US" sz="1600" dirty="0">
                <a:effectLst/>
                <a:latin typeface="Times New Roman" panose="02020603050405020304" pitchFamily="18" charset="0"/>
                <a:ea typeface="Times New Roman" panose="02020603050405020304" pitchFamily="18" charset="0"/>
              </a:rPr>
              <a:t>Blockchain is another kind of emerging data </a:t>
            </a:r>
            <a:r>
              <a:rPr lang="en-US" sz="1600" spc="-15" dirty="0">
                <a:effectLst/>
                <a:latin typeface="Times New Roman" panose="02020603050405020304" pitchFamily="18" charset="0"/>
                <a:ea typeface="Times New Roman" panose="02020603050405020304" pitchFamily="18" charset="0"/>
              </a:rPr>
              <a:t>manage</a:t>
            </a:r>
            <a:r>
              <a:rPr lang="en-US" sz="1600" dirty="0">
                <a:effectLst/>
                <a:latin typeface="Times New Roman" panose="02020603050405020304" pitchFamily="18" charset="0"/>
                <a:ea typeface="Times New Roman" panose="02020603050405020304" pitchFamily="18" charset="0"/>
              </a:rPr>
              <a:t>ment technology, it ensures the reliability of data </a:t>
            </a:r>
            <a:r>
              <a:rPr lang="en-US" sz="1600" spc="-15" dirty="0">
                <a:effectLst/>
                <a:latin typeface="Times New Roman" panose="02020603050405020304" pitchFamily="18" charset="0"/>
                <a:ea typeface="Times New Roman" panose="02020603050405020304" pitchFamily="18" charset="0"/>
              </a:rPr>
              <a:t>through </a:t>
            </a:r>
            <a:r>
              <a:rPr lang="en-US" sz="1600" dirty="0">
                <a:effectLst/>
                <a:latin typeface="Times New Roman" panose="02020603050405020304" pitchFamily="18" charset="0"/>
                <a:ea typeface="Times New Roman" panose="02020603050405020304" pitchFamily="18" charset="0"/>
              </a:rPr>
              <a:t>distributed storage, and the blocks are</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linked</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by</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hash</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algorithm</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as</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chain</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ensure</a:t>
            </a:r>
            <a:r>
              <a:rPr lang="en-US" sz="1600" spc="-4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the</a:t>
            </a:r>
            <a:r>
              <a:rPr lang="en-US" sz="1600" spc="-45" dirty="0">
                <a:effectLst/>
                <a:latin typeface="Times New Roman" panose="02020603050405020304" pitchFamily="18" charset="0"/>
                <a:ea typeface="Times New Roman" panose="02020603050405020304" pitchFamily="18" charset="0"/>
              </a:rPr>
              <a:t> </a:t>
            </a:r>
            <a:r>
              <a:rPr lang="en-US" sz="1600" spc="-15" dirty="0">
                <a:effectLst/>
                <a:latin typeface="Times New Roman" panose="02020603050405020304" pitchFamily="18" charset="0"/>
                <a:ea typeface="Times New Roman" panose="02020603050405020304" pitchFamily="18" charset="0"/>
              </a:rPr>
              <a:t>integrity </a:t>
            </a:r>
            <a:r>
              <a:rPr lang="en-US" sz="1600" dirty="0">
                <a:effectLst/>
                <a:latin typeface="Times New Roman" panose="02020603050405020304" pitchFamily="18" charset="0"/>
                <a:ea typeface="Times New Roman" panose="02020603050405020304" pitchFamily="18" charset="0"/>
              </a:rPr>
              <a:t>of the data It synchronizes data between nodes through  P2P network and consensus algorithm, ensuring</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data</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consistency.</a:t>
            </a:r>
          </a:p>
          <a:p>
            <a:pPr algn="just">
              <a:lnSpc>
                <a:spcPct val="150000"/>
              </a:lnSpc>
            </a:pPr>
            <a:r>
              <a:rPr lang="en-US" sz="1600" dirty="0">
                <a:effectLst/>
                <a:latin typeface="Times New Roman" panose="02020603050405020304" pitchFamily="18" charset="0"/>
                <a:ea typeface="Times New Roman" panose="02020603050405020304" pitchFamily="18" charset="0"/>
              </a:rPr>
              <a:t>Hyperledger</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Fabric</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is</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a:t>
            </a:r>
            <a:r>
              <a:rPr lang="en-US" sz="1600" spc="-65" dirty="0">
                <a:effectLst/>
                <a:latin typeface="Times New Roman" panose="02020603050405020304" pitchFamily="18" charset="0"/>
                <a:ea typeface="Times New Roman" panose="02020603050405020304" pitchFamily="18" charset="0"/>
              </a:rPr>
              <a:t> </a:t>
            </a:r>
            <a:r>
              <a:rPr lang="en-US" sz="1600" spc="-15" dirty="0">
                <a:effectLst/>
                <a:latin typeface="Times New Roman" panose="02020603050405020304" pitchFamily="18" charset="0"/>
                <a:ea typeface="Times New Roman" panose="02020603050405020304" pitchFamily="18" charset="0"/>
              </a:rPr>
              <a:t>open-</a:t>
            </a:r>
            <a:r>
              <a:rPr lang="en-US" sz="1600" dirty="0">
                <a:effectLst/>
                <a:latin typeface="Times New Roman" panose="02020603050405020304" pitchFamily="18" charset="0"/>
                <a:ea typeface="Times New Roman" panose="02020603050405020304" pitchFamily="18" charset="0"/>
              </a:rPr>
              <a:t> source</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blockchain</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development</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platform,</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which</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not</a:t>
            </a:r>
            <a:r>
              <a:rPr lang="en-US" sz="1600" spc="-4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only</a:t>
            </a:r>
            <a:r>
              <a:rPr lang="en-US" sz="1600" spc="-50" dirty="0">
                <a:effectLst/>
                <a:latin typeface="Times New Roman" panose="02020603050405020304" pitchFamily="18" charset="0"/>
                <a:ea typeface="Times New Roman" panose="02020603050405020304" pitchFamily="18" charset="0"/>
              </a:rPr>
              <a:t> </a:t>
            </a:r>
            <a:r>
              <a:rPr lang="en-US" sz="1600" spc="-25" dirty="0">
                <a:effectLst/>
                <a:latin typeface="Times New Roman" panose="02020603050405020304" pitchFamily="18" charset="0"/>
                <a:ea typeface="Times New Roman" panose="02020603050405020304" pitchFamily="18" charset="0"/>
              </a:rPr>
              <a:t>has</a:t>
            </a:r>
            <a:r>
              <a:rPr lang="en-US" sz="1600" dirty="0">
                <a:effectLst/>
                <a:latin typeface="Times New Roman" panose="02020603050405020304" pitchFamily="18" charset="0"/>
                <a:ea typeface="Times New Roman" panose="02020603050405020304" pitchFamily="18" charset="0"/>
              </a:rPr>
              <a:t> the</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characteristics</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of</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blockchain</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such</a:t>
            </a:r>
            <a:r>
              <a:rPr lang="en-US" sz="1600" spc="-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as</a:t>
            </a:r>
            <a:r>
              <a:rPr lang="en-US" sz="1600" spc="-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decentralized</a:t>
            </a:r>
            <a:r>
              <a:rPr lang="en-US" sz="1600" spc="-65" dirty="0">
                <a:effectLst/>
                <a:latin typeface="Times New Roman" panose="02020603050405020304" pitchFamily="18" charset="0"/>
                <a:ea typeface="Times New Roman" panose="02020603050405020304" pitchFamily="18" charset="0"/>
              </a:rPr>
              <a:t> </a:t>
            </a:r>
            <a:r>
              <a:rPr lang="en-US" sz="1600" spc="-25" dirty="0">
                <a:effectLst/>
                <a:latin typeface="Times New Roman" panose="02020603050405020304" pitchFamily="18" charset="0"/>
                <a:ea typeface="Times New Roman" panose="02020603050405020304" pitchFamily="18" charset="0"/>
              </a:rPr>
              <a:t>ledger,</a:t>
            </a:r>
            <a:r>
              <a:rPr lang="en-US" sz="1600" dirty="0">
                <a:effectLst/>
                <a:latin typeface="Times New Roman" panose="02020603050405020304" pitchFamily="18" charset="0"/>
                <a:ea typeface="Times New Roman" panose="02020603050405020304" pitchFamily="18" charset="0"/>
              </a:rPr>
              <a:t> immutable, and group consensus, but also</a:t>
            </a:r>
            <a:r>
              <a:rPr lang="en-US" sz="1600" spc="-8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provides</a:t>
            </a:r>
            <a:r>
              <a:rPr lang="en-US" sz="1600" spc="195" dirty="0">
                <a:effectLst/>
                <a:latin typeface="Times New Roman" panose="02020603050405020304" pitchFamily="18" charset="0"/>
                <a:ea typeface="Times New Roman" panose="02020603050405020304" pitchFamily="18" charset="0"/>
              </a:rPr>
              <a:t> </a:t>
            </a:r>
            <a:r>
              <a:rPr lang="en-US" sz="1600" spc="-20" dirty="0">
                <a:effectLst/>
                <a:latin typeface="Times New Roman" panose="02020603050405020304" pitchFamily="18" charset="0"/>
                <a:ea typeface="Times New Roman" panose="02020603050405020304" pitchFamily="18" charset="0"/>
              </a:rPr>
              <a:t>more</a:t>
            </a:r>
            <a:r>
              <a:rPr lang="en-US" sz="1600" dirty="0">
                <a:effectLst/>
                <a:latin typeface="Times New Roman" panose="02020603050405020304" pitchFamily="18" charset="0"/>
                <a:ea typeface="Times New Roman" panose="02020603050405020304" pitchFamily="18" charset="0"/>
              </a:rPr>
              <a:t> efficient consensus mechanisms, higher</a:t>
            </a:r>
            <a:r>
              <a:rPr lang="en-US" sz="1600" spc="12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throughputs,</a:t>
            </a:r>
            <a:r>
              <a:rPr lang="en-US" sz="1600" spc="95" dirty="0">
                <a:effectLst/>
                <a:latin typeface="Times New Roman" panose="02020603050405020304" pitchFamily="18" charset="0"/>
                <a:ea typeface="Times New Roman" panose="02020603050405020304" pitchFamily="18" charset="0"/>
              </a:rPr>
              <a:t> </a:t>
            </a:r>
            <a:r>
              <a:rPr lang="en-US" sz="1600" spc="-15" dirty="0">
                <a:effectLst/>
                <a:latin typeface="Times New Roman" panose="02020603050405020304" pitchFamily="18" charset="0"/>
                <a:ea typeface="Times New Roman" panose="02020603050405020304" pitchFamily="18" charset="0"/>
              </a:rPr>
              <a:t>smart</a:t>
            </a:r>
            <a:r>
              <a:rPr lang="en-US" sz="1600" dirty="0">
                <a:effectLst/>
                <a:latin typeface="Times New Roman" panose="02020603050405020304" pitchFamily="18" charset="0"/>
                <a:ea typeface="Times New Roman" panose="02020603050405020304" pitchFamily="18" charset="0"/>
              </a:rPr>
              <a:t> contracts,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support</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for</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multiple</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organizations</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and</a:t>
            </a:r>
            <a:r>
              <a:rPr lang="en-US" sz="1600" spc="-7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ledgers.</a:t>
            </a:r>
          </a:p>
          <a:p>
            <a:pPr marR="24130" algn="just">
              <a:lnSpc>
                <a:spcPct val="150000"/>
              </a:lnSpc>
            </a:pPr>
            <a:r>
              <a:rPr lang="en-US" sz="1600" dirty="0">
                <a:effectLst/>
                <a:latin typeface="Times New Roman" panose="02020603050405020304" pitchFamily="18" charset="0"/>
                <a:ea typeface="Times New Roman" panose="02020603050405020304" pitchFamily="18" charset="0"/>
              </a:rPr>
              <a:t>In this project,</a:t>
            </a:r>
            <a:r>
              <a:rPr lang="en-US" sz="1600" spc="-10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applying</a:t>
            </a:r>
            <a:r>
              <a:rPr lang="en-US" sz="1600" spc="-10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blockchain</a:t>
            </a:r>
            <a:r>
              <a:rPr lang="en-US" sz="1600" spc="-9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technology</a:t>
            </a:r>
            <a:r>
              <a:rPr lang="en-US" sz="1600" spc="-10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to</a:t>
            </a:r>
            <a:r>
              <a:rPr lang="en-US" sz="1600" spc="-10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IoT</a:t>
            </a:r>
            <a:r>
              <a:rPr lang="en-US" sz="1600" spc="-9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access control, design and implement an access</a:t>
            </a:r>
            <a:r>
              <a:rPr lang="en-US" sz="1600" spc="8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control</a:t>
            </a:r>
            <a:r>
              <a:rPr lang="en-US" sz="1600" spc="15" dirty="0">
                <a:effectLst/>
                <a:latin typeface="Times New Roman" panose="02020603050405020304" pitchFamily="18" charset="0"/>
                <a:ea typeface="Times New Roman" panose="02020603050405020304" pitchFamily="18" charset="0"/>
              </a:rPr>
              <a:t> </a:t>
            </a:r>
            <a:r>
              <a:rPr lang="en-US" sz="1600" spc="-15" dirty="0">
                <a:effectLst/>
                <a:latin typeface="Times New Roman" panose="02020603050405020304" pitchFamily="18" charset="0"/>
                <a:ea typeface="Times New Roman" panose="02020603050405020304" pitchFamily="18" charset="0"/>
              </a:rPr>
              <a:t>system</a:t>
            </a:r>
            <a:r>
              <a:rPr lang="en-US" sz="1600" dirty="0">
                <a:effectLst/>
                <a:latin typeface="Times New Roman" panose="02020603050405020304" pitchFamily="18" charset="0"/>
                <a:ea typeface="Times New Roman" panose="02020603050405020304" pitchFamily="18" charset="0"/>
              </a:rPr>
              <a:t> named</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fabic</a:t>
            </a:r>
            <a:r>
              <a:rPr lang="en-US" sz="1600" dirty="0">
                <a:latin typeface="Times New Roman" panose="02020603050405020304" pitchFamily="18" charset="0"/>
                <a:ea typeface="Times New Roman" panose="02020603050405020304" pitchFamily="18" charset="0"/>
              </a:rPr>
              <a:t>-</a:t>
            </a:r>
            <a:r>
              <a:rPr lang="en-US" sz="1600" dirty="0">
                <a:effectLst/>
                <a:latin typeface="Times New Roman" panose="02020603050405020304" pitchFamily="18" charset="0"/>
                <a:ea typeface="Times New Roman" panose="02020603050405020304" pitchFamily="18" charset="0"/>
              </a:rPr>
              <a:t>iot,</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which</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is</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based</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on</a:t>
            </a:r>
            <a:r>
              <a:rPr lang="en-US" sz="1600" spc="5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Hyperledger</a:t>
            </a:r>
            <a:r>
              <a:rPr lang="en-US" sz="1600" spc="5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Fabric</a:t>
            </a:r>
            <a:r>
              <a:rPr lang="en-US" sz="1600" spc="55" dirty="0">
                <a:effectLst/>
                <a:latin typeface="Times New Roman" panose="02020603050405020304" pitchFamily="18" charset="0"/>
                <a:ea typeface="Times New Roman" panose="02020603050405020304" pitchFamily="18" charset="0"/>
              </a:rPr>
              <a:t> </a:t>
            </a:r>
            <a:r>
              <a:rPr lang="en-US" sz="1600" spc="-25" dirty="0">
                <a:effectLst/>
                <a:latin typeface="Times New Roman" panose="02020603050405020304" pitchFamily="18" charset="0"/>
                <a:ea typeface="Times New Roman" panose="02020603050405020304" pitchFamily="18" charset="0"/>
              </a:rPr>
              <a:t>and</a:t>
            </a:r>
            <a:r>
              <a:rPr lang="en-US" sz="1600" dirty="0">
                <a:effectLst/>
                <a:latin typeface="Times New Roman" panose="02020603050405020304" pitchFamily="18" charset="0"/>
                <a:ea typeface="Times New Roman" panose="02020603050405020304" pitchFamily="18" charset="0"/>
              </a:rPr>
              <a:t> </a:t>
            </a:r>
            <a:r>
              <a:rPr lang="en-US" sz="1600" spc="-15" dirty="0">
                <a:effectLst/>
                <a:latin typeface="Times New Roman" panose="02020603050405020304" pitchFamily="18" charset="0"/>
                <a:ea typeface="Times New Roman" panose="02020603050405020304" pitchFamily="18" charset="0"/>
              </a:rPr>
              <a:t>ABAC. </a:t>
            </a:r>
            <a:r>
              <a:rPr lang="en-US" sz="1600" dirty="0">
                <a:effectLst/>
                <a:latin typeface="Times New Roman" panose="02020603050405020304" pitchFamily="18" charset="0"/>
                <a:ea typeface="Times New Roman" panose="02020603050405020304" pitchFamily="18" charset="0"/>
              </a:rPr>
              <a:t>By using distributed architecture, fabric-iot</a:t>
            </a:r>
            <a:r>
              <a:rPr lang="en-US" sz="1600" spc="-16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can</a:t>
            </a:r>
            <a:r>
              <a:rPr lang="en-US" sz="1600" spc="-30" dirty="0">
                <a:effectLst/>
                <a:latin typeface="Times New Roman" panose="02020603050405020304" pitchFamily="18" charset="0"/>
                <a:ea typeface="Times New Roman" panose="02020603050405020304" pitchFamily="18" charset="0"/>
              </a:rPr>
              <a:t> </a:t>
            </a:r>
            <a:r>
              <a:rPr lang="en-US" sz="1600" spc="-20" dirty="0">
                <a:effectLst/>
                <a:latin typeface="Times New Roman" panose="02020603050405020304" pitchFamily="18" charset="0"/>
                <a:ea typeface="Times New Roman" panose="02020603050405020304" pitchFamily="18" charset="0"/>
              </a:rPr>
              <a:t>trace</a:t>
            </a:r>
            <a:r>
              <a:rPr lang="en-US" sz="1600" dirty="0">
                <a:effectLst/>
                <a:latin typeface="Times New Roman" panose="02020603050405020304" pitchFamily="18" charset="0"/>
                <a:ea typeface="Times New Roman" panose="02020603050405020304" pitchFamily="18" charset="0"/>
              </a:rPr>
              <a:t> records,</a:t>
            </a:r>
            <a:r>
              <a:rPr lang="en-US" sz="1600" spc="1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provide</a:t>
            </a:r>
            <a:r>
              <a:rPr lang="en-US" sz="1600" spc="1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dynamic</a:t>
            </a:r>
            <a:r>
              <a:rPr lang="en-US" sz="1600" spc="1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access</a:t>
            </a:r>
            <a:r>
              <a:rPr lang="en-US" sz="1600" spc="1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control</a:t>
            </a:r>
            <a:r>
              <a:rPr lang="en-US" sz="1600" spc="165"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management</a:t>
            </a:r>
            <a:r>
              <a:rPr lang="en-US" sz="1600" spc="165" dirty="0">
                <a:effectLst/>
                <a:latin typeface="Times New Roman" panose="02020603050405020304" pitchFamily="18" charset="0"/>
                <a:ea typeface="Times New Roman" panose="02020603050405020304" pitchFamily="18" charset="0"/>
              </a:rPr>
              <a:t> </a:t>
            </a:r>
            <a:r>
              <a:rPr lang="en-US" sz="1600" spc="-30" dirty="0">
                <a:effectLst/>
                <a:latin typeface="Times New Roman" panose="02020603050405020304" pitchFamily="18" charset="0"/>
                <a:ea typeface="Times New Roman" panose="02020603050405020304" pitchFamily="18" charset="0"/>
              </a:rPr>
              <a:t>and </a:t>
            </a:r>
            <a:r>
              <a:rPr lang="en-US" sz="1600" dirty="0">
                <a:effectLst/>
                <a:latin typeface="Times New Roman" panose="02020603050405020304" pitchFamily="18" charset="0"/>
                <a:ea typeface="Times New Roman" panose="02020603050405020304" pitchFamily="18" charset="0"/>
              </a:rPr>
              <a:t>solve the access control problem in </a:t>
            </a:r>
            <a:r>
              <a:rPr lang="en-US" sz="1600" spc="-20" dirty="0">
                <a:effectLst/>
                <a:latin typeface="Times New Roman" panose="02020603050405020304" pitchFamily="18" charset="0"/>
                <a:ea typeface="Times New Roman" panose="02020603050405020304" pitchFamily="18" charset="0"/>
              </a:rPr>
              <a:t>IoT.</a:t>
            </a:r>
            <a:endParaRPr lang="en-IN" sz="1600" dirty="0"/>
          </a:p>
        </p:txBody>
      </p:sp>
      <p:pic>
        <p:nvPicPr>
          <p:cNvPr id="4" name="Picture 3">
            <a:extLst>
              <a:ext uri="{FF2B5EF4-FFF2-40B4-BE49-F238E27FC236}">
                <a16:creationId xmlns:a16="http://schemas.microsoft.com/office/drawing/2014/main" id="{364CD523-EE9B-4EE7-8C75-F2468C71A9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pic>
        <p:nvPicPr>
          <p:cNvPr id="5" name="Picture 4" descr="㿷ᛷ਴">
            <a:extLst>
              <a:ext uri="{FF2B5EF4-FFF2-40B4-BE49-F238E27FC236}">
                <a16:creationId xmlns:a16="http://schemas.microsoft.com/office/drawing/2014/main" id="{BCC2044B-3885-42C6-9A75-EE3B273A128E}"/>
              </a:ext>
            </a:extLst>
          </p:cNvPr>
          <p:cNvPicPr/>
          <p:nvPr/>
        </p:nvPicPr>
        <p:blipFill>
          <a:blip r:embed="rId3"/>
          <a:srcRect/>
          <a:stretch>
            <a:fillRect/>
          </a:stretch>
        </p:blipFill>
        <p:spPr bwMode="auto">
          <a:xfrm>
            <a:off x="1" y="-136"/>
            <a:ext cx="899592" cy="768744"/>
          </a:xfrm>
          <a:prstGeom prst="rect">
            <a:avLst/>
          </a:prstGeom>
          <a:noFill/>
          <a:ln w="9525">
            <a:noFill/>
            <a:miter lim="800000"/>
            <a:headEnd/>
            <a:tailEnd/>
          </a:ln>
        </p:spPr>
      </p:pic>
    </p:spTree>
    <p:extLst>
      <p:ext uri="{BB962C8B-B14F-4D97-AF65-F5344CB8AC3E}">
        <p14:creationId xmlns:p14="http://schemas.microsoft.com/office/powerpoint/2010/main" val="15346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097C-E4BC-4DDF-8FEF-3514478104D3}"/>
              </a:ext>
            </a:extLst>
          </p:cNvPr>
          <p:cNvSpPr>
            <a:spLocks noGrp="1"/>
          </p:cNvSpPr>
          <p:nvPr>
            <p:ph type="title"/>
          </p:nvPr>
        </p:nvSpPr>
        <p:spPr>
          <a:xfrm>
            <a:off x="1238128" y="126149"/>
            <a:ext cx="9905998" cy="621197"/>
          </a:xfrm>
        </p:spPr>
        <p:txBody>
          <a:bodyPr/>
          <a:lstStyle/>
          <a:p>
            <a:r>
              <a:rPr lang="en-US" dirty="0"/>
              <a:t>			</a:t>
            </a:r>
            <a:r>
              <a:rPr lang="en-US" sz="2800" b="1" dirty="0">
                <a:latin typeface="Times New Roman" panose="02020603050405020304" pitchFamily="18" charset="0"/>
                <a:cs typeface="Times New Roman" panose="02020603050405020304" pitchFamily="18" charset="0"/>
              </a:rPr>
              <a:t>Literature Survey </a:t>
            </a:r>
            <a:endParaRPr lang="en-IN" sz="2800" b="1" dirty="0">
              <a:latin typeface="Times New Roman" panose="02020603050405020304" pitchFamily="18" charset="0"/>
              <a:cs typeface="Times New Roman" panose="02020603050405020304" pitchFamily="18" charset="0"/>
            </a:endParaRPr>
          </a:p>
        </p:txBody>
      </p:sp>
      <p:graphicFrame>
        <p:nvGraphicFramePr>
          <p:cNvPr id="6" name="Table 6">
            <a:extLst>
              <a:ext uri="{FF2B5EF4-FFF2-40B4-BE49-F238E27FC236}">
                <a16:creationId xmlns:a16="http://schemas.microsoft.com/office/drawing/2014/main" id="{079D8D05-E714-4223-8F2A-39A0E63717CA}"/>
              </a:ext>
            </a:extLst>
          </p:cNvPr>
          <p:cNvGraphicFramePr>
            <a:graphicFrameLocks noGrp="1"/>
          </p:cNvGraphicFramePr>
          <p:nvPr>
            <p:ph idx="1"/>
            <p:extLst>
              <p:ext uri="{D42A27DB-BD31-4B8C-83A1-F6EECF244321}">
                <p14:modId xmlns:p14="http://schemas.microsoft.com/office/powerpoint/2010/main" val="1288993920"/>
              </p:ext>
            </p:extLst>
          </p:nvPr>
        </p:nvGraphicFramePr>
        <p:xfrm>
          <a:off x="457200" y="1044943"/>
          <a:ext cx="11298115" cy="5437607"/>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3559870316"/>
                    </a:ext>
                  </a:extLst>
                </a:gridCol>
                <a:gridCol w="1878623">
                  <a:extLst>
                    <a:ext uri="{9D8B030D-6E8A-4147-A177-3AD203B41FA5}">
                      <a16:colId xmlns:a16="http://schemas.microsoft.com/office/drawing/2014/main" val="2144605616"/>
                    </a:ext>
                  </a:extLst>
                </a:gridCol>
                <a:gridCol w="1878623">
                  <a:extLst>
                    <a:ext uri="{9D8B030D-6E8A-4147-A177-3AD203B41FA5}">
                      <a16:colId xmlns:a16="http://schemas.microsoft.com/office/drawing/2014/main" val="3063565352"/>
                    </a:ext>
                  </a:extLst>
                </a:gridCol>
                <a:gridCol w="1878623">
                  <a:extLst>
                    <a:ext uri="{9D8B030D-6E8A-4147-A177-3AD203B41FA5}">
                      <a16:colId xmlns:a16="http://schemas.microsoft.com/office/drawing/2014/main" val="2030861179"/>
                    </a:ext>
                  </a:extLst>
                </a:gridCol>
                <a:gridCol w="1878623">
                  <a:extLst>
                    <a:ext uri="{9D8B030D-6E8A-4147-A177-3AD203B41FA5}">
                      <a16:colId xmlns:a16="http://schemas.microsoft.com/office/drawing/2014/main" val="1838119085"/>
                    </a:ext>
                  </a:extLst>
                </a:gridCol>
                <a:gridCol w="1878623">
                  <a:extLst>
                    <a:ext uri="{9D8B030D-6E8A-4147-A177-3AD203B41FA5}">
                      <a16:colId xmlns:a16="http://schemas.microsoft.com/office/drawing/2014/main" val="4228305174"/>
                    </a:ext>
                  </a:extLst>
                </a:gridCol>
              </a:tblGrid>
              <a:tr h="8454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      References</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      Objectives</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         Algorithm</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          Concepts</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Journal/Conference/Year</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          Demerits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48395032"/>
                  </a:ext>
                </a:extLst>
              </a:tr>
              <a:tr h="2367155">
                <a:tc>
                  <a:txBody>
                    <a:bodyPr/>
                    <a:lstStyle/>
                    <a:p>
                      <a:r>
                        <a:rPr lang="en-US" sz="1400" dirty="0">
                          <a:latin typeface="Times New Roman" panose="02020603050405020304" pitchFamily="18" charset="0"/>
                          <a:cs typeface="Times New Roman" panose="02020603050405020304" pitchFamily="18" charset="0"/>
                        </a:rPr>
                        <a:t>IoT-Assisted ECG Monitoring Framework With Secure Data Transmission for Health Care Applications</a:t>
                      </a: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Improve iot frame work in medical fields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SPECIAL SECTION ON DEEP LEARNING ALGORITHMS FOR INTERNET OF MEDICAL THINGS</a:t>
                      </a: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IOT,</a:t>
                      </a:r>
                    </a:p>
                    <a:p>
                      <a:r>
                        <a:rPr lang="en-US" sz="1400" dirty="0">
                          <a:latin typeface="Times New Roman" panose="02020603050405020304" pitchFamily="18" charset="0"/>
                          <a:cs typeface="Times New Roman" panose="02020603050405020304" pitchFamily="18" charset="0"/>
                        </a:rPr>
                        <a:t>Machine Learning,</a:t>
                      </a:r>
                    </a:p>
                    <a:p>
                      <a:r>
                        <a:rPr lang="en-US" sz="1400" dirty="0">
                          <a:latin typeface="Times New Roman" panose="02020603050405020304" pitchFamily="18" charset="0"/>
                          <a:cs typeface="Times New Roman" panose="02020603050405020304" pitchFamily="18" charset="0"/>
                        </a:rPr>
                        <a:t>Deep learning.</a:t>
                      </a:r>
                    </a:p>
                  </a:txBody>
                  <a:tcPr/>
                </a:tc>
                <a:tc>
                  <a:txBody>
                    <a:bodyPr/>
                    <a:lstStyle/>
                    <a:p>
                      <a:r>
                        <a:rPr lang="en-US" sz="1400" dirty="0">
                          <a:latin typeface="Times New Roman" panose="02020603050405020304" pitchFamily="18" charset="0"/>
                          <a:cs typeface="Times New Roman" panose="02020603050405020304" pitchFamily="18" charset="0"/>
                        </a:rPr>
                        <a:t>IEEE</a:t>
                      </a:r>
                    </a:p>
                    <a:p>
                      <a:r>
                        <a:rPr lang="en-IN" sz="1400" dirty="0">
                          <a:latin typeface="Times New Roman" panose="02020603050405020304" pitchFamily="18" charset="0"/>
                          <a:cs typeface="Times New Roman" panose="02020603050405020304" pitchFamily="18" charset="0"/>
                        </a:rPr>
                        <a:t>May 4, 2020.</a:t>
                      </a: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Digital Object</a:t>
                      </a:r>
                    </a:p>
                    <a:p>
                      <a:r>
                        <a:rPr lang="en-IN" sz="1400" dirty="0">
                          <a:latin typeface="Times New Roman" panose="02020603050405020304" pitchFamily="18" charset="0"/>
                          <a:cs typeface="Times New Roman" panose="02020603050405020304" pitchFamily="18" charset="0"/>
                        </a:rPr>
                        <a:t>Identifier10.1109/ACCESS.2020.2988059</a:t>
                      </a: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No high Signal Strength Analysis (SSA) </a:t>
                      </a:r>
                    </a:p>
                  </a:txBody>
                  <a:tcPr/>
                </a:tc>
                <a:extLst>
                  <a:ext uri="{0D108BD9-81ED-4DB2-BD59-A6C34878D82A}">
                    <a16:rowId xmlns:a16="http://schemas.microsoft.com/office/drawing/2014/main" val="693285122"/>
                  </a:ext>
                </a:extLst>
              </a:tr>
              <a:tr h="2028990">
                <a:tc>
                  <a:txBody>
                    <a:bodyPr/>
                    <a:lstStyle/>
                    <a:p>
                      <a:r>
                        <a:rPr lang="en-US" sz="1400" dirty="0">
                          <a:latin typeface="Times New Roman" panose="02020603050405020304" pitchFamily="18" charset="0"/>
                          <a:cs typeface="Times New Roman" panose="02020603050405020304" pitchFamily="18" charset="0"/>
                        </a:rPr>
                        <a:t>IoT-RTP and IoT-RTCP: Adaptive Protocols for Multimedia Transmission over Internet of Things Environments</a:t>
                      </a: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To improve </a:t>
                      </a:r>
                    </a:p>
                    <a:p>
                      <a:r>
                        <a:rPr lang="en-US" sz="1400" dirty="0">
                          <a:latin typeface="Times New Roman" panose="02020603050405020304" pitchFamily="18" charset="0"/>
                          <a:cs typeface="Times New Roman" panose="02020603050405020304" pitchFamily="18" charset="0"/>
                        </a:rPr>
                        <a:t>Multi media transmission using RTCP and RTP</a:t>
                      </a:r>
                    </a:p>
                    <a:p>
                      <a:r>
                        <a:rPr lang="en-US" sz="1400" dirty="0">
                          <a:latin typeface="Times New Roman" panose="02020603050405020304" pitchFamily="18" charset="0"/>
                          <a:cs typeface="Times New Roman" panose="02020603050405020304" pitchFamily="18" charset="0"/>
                        </a:rPr>
                        <a:t>protocol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IoT-RTP descriptive algorithm and</a:t>
                      </a:r>
                    </a:p>
                    <a:p>
                      <a:r>
                        <a:rPr lang="en-IN" sz="1400" dirty="0">
                          <a:latin typeface="Times New Roman" panose="02020603050405020304" pitchFamily="18" charset="0"/>
                          <a:cs typeface="Times New Roman" panose="02020603050405020304" pitchFamily="18" charset="0"/>
                        </a:rPr>
                        <a:t> IoT-RTCP descriptive algorithm</a:t>
                      </a:r>
                    </a:p>
                  </a:txBody>
                  <a:tcPr/>
                </a:tc>
                <a:tc>
                  <a:txBody>
                    <a:bodyPr/>
                    <a:lstStyle/>
                    <a:p>
                      <a:r>
                        <a:rPr lang="en-US" sz="1400" dirty="0">
                          <a:latin typeface="Times New Roman" panose="02020603050405020304" pitchFamily="18" charset="0"/>
                          <a:cs typeface="Times New Roman" panose="02020603050405020304" pitchFamily="18" charset="0"/>
                        </a:rPr>
                        <a:t>RTP and RTCP ,</a:t>
                      </a:r>
                    </a:p>
                    <a:p>
                      <a:r>
                        <a:rPr lang="en-US" sz="1400" dirty="0">
                          <a:latin typeface="Times New Roman" panose="02020603050405020304" pitchFamily="18" charset="0"/>
                          <a:cs typeface="Times New Roman" panose="02020603050405020304" pitchFamily="18" charset="0"/>
                        </a:rPr>
                        <a:t>IOT </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IEEE</a:t>
                      </a:r>
                    </a:p>
                    <a:p>
                      <a:r>
                        <a:rPr lang="en-IN" sz="1400" dirty="0">
                          <a:latin typeface="Times New Roman" panose="02020603050405020304" pitchFamily="18" charset="0"/>
                          <a:cs typeface="Times New Roman" panose="02020603050405020304" pitchFamily="18" charset="0"/>
                        </a:rPr>
                        <a:t>September 19, 2017.</a:t>
                      </a:r>
                    </a:p>
                    <a:p>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Digital Object Identifier 10.1109/ACCESS.2017.2726902</a:t>
                      </a:r>
                    </a:p>
                    <a:p>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 drawback of this method is that it has strict requirements for transmitting the multimedia streams and also</a:t>
                      </a:r>
                    </a:p>
                    <a:p>
                      <a:r>
                        <a:rPr lang="en-US" sz="1400" dirty="0">
                          <a:latin typeface="Times New Roman" panose="02020603050405020304" pitchFamily="18" charset="0"/>
                          <a:cs typeface="Times New Roman" panose="02020603050405020304" pitchFamily="18" charset="0"/>
                        </a:rPr>
                        <a:t>The main drawback of this model is its dependency on the peer-to- peer concept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50724727"/>
                  </a:ext>
                </a:extLst>
              </a:tr>
            </a:tbl>
          </a:graphicData>
        </a:graphic>
      </p:graphicFrame>
      <p:pic>
        <p:nvPicPr>
          <p:cNvPr id="4" name="Picture 3" descr="㿷ᛷ਴">
            <a:extLst>
              <a:ext uri="{FF2B5EF4-FFF2-40B4-BE49-F238E27FC236}">
                <a16:creationId xmlns:a16="http://schemas.microsoft.com/office/drawing/2014/main" id="{4C6E36C8-CEB1-48BB-89E9-EDAFD1F3E291}"/>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58260E44-83F3-4D46-BD84-0822CAFA63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257341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FE61E-2E70-4071-9E8C-4ECB99D30ACC}"/>
              </a:ext>
            </a:extLst>
          </p:cNvPr>
          <p:cNvSpPr>
            <a:spLocks noGrp="1"/>
          </p:cNvSpPr>
          <p:nvPr>
            <p:ph type="title"/>
          </p:nvPr>
        </p:nvSpPr>
        <p:spPr>
          <a:xfrm>
            <a:off x="1194167" y="143733"/>
            <a:ext cx="9905998" cy="533274"/>
          </a:xfrm>
        </p:spPr>
        <p:txBody>
          <a:bodyPr>
            <a:normAutofit fontScale="90000"/>
          </a:bodyPr>
          <a:lstStyle/>
          <a:p>
            <a:r>
              <a:rPr lang="en-US" dirty="0"/>
              <a:t>cont.…</a:t>
            </a:r>
            <a:endParaRPr lang="en-IN" sz="3100" b="1" dirty="0">
              <a:latin typeface="Times New Roman" panose="02020603050405020304" pitchFamily="18" charset="0"/>
              <a:cs typeface="Times New Roman" panose="02020603050405020304" pitchFamily="18" charset="0"/>
            </a:endParaRPr>
          </a:p>
        </p:txBody>
      </p:sp>
      <p:graphicFrame>
        <p:nvGraphicFramePr>
          <p:cNvPr id="6" name="Table 6">
            <a:extLst>
              <a:ext uri="{FF2B5EF4-FFF2-40B4-BE49-F238E27FC236}">
                <a16:creationId xmlns:a16="http://schemas.microsoft.com/office/drawing/2014/main" id="{69CD9EE5-3FB7-4D83-8C84-5C3E14A5ECBB}"/>
              </a:ext>
            </a:extLst>
          </p:cNvPr>
          <p:cNvGraphicFramePr>
            <a:graphicFrameLocks noGrp="1"/>
          </p:cNvGraphicFramePr>
          <p:nvPr>
            <p:ph idx="1"/>
            <p:extLst>
              <p:ext uri="{D42A27DB-BD31-4B8C-83A1-F6EECF244321}">
                <p14:modId xmlns:p14="http://schemas.microsoft.com/office/powerpoint/2010/main" val="3091951905"/>
              </p:ext>
            </p:extLst>
          </p:nvPr>
        </p:nvGraphicFramePr>
        <p:xfrm>
          <a:off x="272562" y="835111"/>
          <a:ext cx="11438792" cy="5882640"/>
        </p:xfrm>
        <a:graphic>
          <a:graphicData uri="http://schemas.openxmlformats.org/drawingml/2006/table">
            <a:tbl>
              <a:tblPr firstRow="1" bandRow="1">
                <a:tableStyleId>{5C22544A-7EE6-4342-B048-85BDC9FD1C3A}</a:tableStyleId>
              </a:tblPr>
              <a:tblGrid>
                <a:gridCol w="2060382">
                  <a:extLst>
                    <a:ext uri="{9D8B030D-6E8A-4147-A177-3AD203B41FA5}">
                      <a16:colId xmlns:a16="http://schemas.microsoft.com/office/drawing/2014/main" val="703211822"/>
                    </a:ext>
                  </a:extLst>
                </a:gridCol>
                <a:gridCol w="1875682">
                  <a:extLst>
                    <a:ext uri="{9D8B030D-6E8A-4147-A177-3AD203B41FA5}">
                      <a16:colId xmlns:a16="http://schemas.microsoft.com/office/drawing/2014/main" val="696643660"/>
                    </a:ext>
                  </a:extLst>
                </a:gridCol>
                <a:gridCol w="1875682">
                  <a:extLst>
                    <a:ext uri="{9D8B030D-6E8A-4147-A177-3AD203B41FA5}">
                      <a16:colId xmlns:a16="http://schemas.microsoft.com/office/drawing/2014/main" val="2047968082"/>
                    </a:ext>
                  </a:extLst>
                </a:gridCol>
                <a:gridCol w="1890316">
                  <a:extLst>
                    <a:ext uri="{9D8B030D-6E8A-4147-A177-3AD203B41FA5}">
                      <a16:colId xmlns:a16="http://schemas.microsoft.com/office/drawing/2014/main" val="1776837789"/>
                    </a:ext>
                  </a:extLst>
                </a:gridCol>
                <a:gridCol w="1861048">
                  <a:extLst>
                    <a:ext uri="{9D8B030D-6E8A-4147-A177-3AD203B41FA5}">
                      <a16:colId xmlns:a16="http://schemas.microsoft.com/office/drawing/2014/main" val="4063282719"/>
                    </a:ext>
                  </a:extLst>
                </a:gridCol>
                <a:gridCol w="1875682">
                  <a:extLst>
                    <a:ext uri="{9D8B030D-6E8A-4147-A177-3AD203B41FA5}">
                      <a16:colId xmlns:a16="http://schemas.microsoft.com/office/drawing/2014/main" val="498645929"/>
                    </a:ext>
                  </a:extLst>
                </a:gridCol>
              </a:tblGrid>
              <a:tr h="769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References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Objectives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Algorithm</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Concepts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Journal/Conference/Year</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Demerits</a:t>
                      </a:r>
                    </a:p>
                    <a:p>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54672505"/>
                  </a:ext>
                </a:extLst>
              </a:tr>
              <a:tr h="2013631">
                <a:tc>
                  <a:txBody>
                    <a:bodyPr/>
                    <a:lstStyle/>
                    <a:p>
                      <a:r>
                        <a:rPr lang="en-US" sz="1400" dirty="0">
                          <a:latin typeface="Times New Roman" panose="02020603050405020304" pitchFamily="18" charset="0"/>
                          <a:cs typeface="Times New Roman" panose="02020603050405020304" pitchFamily="18" charset="0"/>
                        </a:rPr>
                        <a:t>An Empirical Study on System Level Aspects of Internet of Things (IoT</a:t>
                      </a:r>
                      <a:r>
                        <a:rPr lang="en-US"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To improve system level aspects of iot </a:t>
                      </a:r>
                    </a:p>
                  </a:txBody>
                  <a:tcPr/>
                </a:tc>
                <a:tc>
                  <a:txBody>
                    <a:bodyPr/>
                    <a:lstStyle/>
                    <a:p>
                      <a:r>
                        <a:rPr lang="en-IN" sz="1400" dirty="0">
                          <a:latin typeface="Times New Roman" panose="02020603050405020304" pitchFamily="18" charset="0"/>
                          <a:cs typeface="Times New Roman" panose="02020603050405020304" pitchFamily="18" charset="0"/>
                        </a:rPr>
                        <a:t>Semantic Extraction Algorithm (SEA)</a:t>
                      </a:r>
                    </a:p>
                    <a:p>
                      <a:r>
                        <a:rPr lang="en-IN" sz="1400" dirty="0">
                          <a:latin typeface="Times New Roman" panose="02020603050405020304" pitchFamily="18" charset="0"/>
                          <a:cs typeface="Times New Roman" panose="02020603050405020304" pitchFamily="18" charset="0"/>
                        </a:rPr>
                        <a:t>And Semantic Inference Algorithm(SIA), machine learning algorithms, and</a:t>
                      </a:r>
                    </a:p>
                    <a:p>
                      <a:r>
                        <a:rPr lang="en-IN" sz="1400" dirty="0">
                          <a:latin typeface="Times New Roman" panose="02020603050405020304" pitchFamily="18" charset="0"/>
                          <a:cs typeface="Times New Roman" panose="02020603050405020304" pitchFamily="18" charset="0"/>
                        </a:rPr>
                        <a:t>automation techniques.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AI , ML , IOT, IoT, pillars of IoT, emerging IoT applications, IoT application requirements, IoT architecture, IoT application layer protocols</a:t>
                      </a:r>
                    </a:p>
                    <a:p>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IEEE</a:t>
                      </a:r>
                    </a:p>
                    <a:p>
                      <a:r>
                        <a:rPr lang="en-IN" sz="1400" dirty="0">
                          <a:latin typeface="Times New Roman" panose="02020603050405020304" pitchFamily="18" charset="0"/>
                          <a:cs typeface="Times New Roman" panose="02020603050405020304" pitchFamily="18" charset="0"/>
                        </a:rPr>
                        <a:t>October27,2020.</a:t>
                      </a:r>
                    </a:p>
                    <a:p>
                      <a:r>
                        <a:rPr lang="en-IN" sz="1400" dirty="0">
                          <a:latin typeface="Times New Roman" panose="02020603050405020304" pitchFamily="18" charset="0"/>
                          <a:cs typeface="Times New Roman" panose="02020603050405020304" pitchFamily="18" charset="0"/>
                        </a:rPr>
                        <a:t>Digital Object Identifier 10.1109/ACCESS.2020.3029847</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The instructions of the high priority tasks may not be executed in the given time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23789753"/>
                  </a:ext>
                </a:extLst>
              </a:tr>
              <a:tr h="15398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EMS: An Energy Management Scheme for Green IoT Environments</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Methods to implement iot in farming subjects </a:t>
                      </a:r>
                    </a:p>
                  </a:txBody>
                  <a:tcPr/>
                </a:tc>
                <a:tc>
                  <a:txBody>
                    <a:bodyPr/>
                    <a:lstStyle/>
                    <a:p>
                      <a:r>
                        <a:rPr lang="en-US"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1</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and </a:t>
                      </a:r>
                      <a:r>
                        <a:rPr lang="en-US"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algorithm 2</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describe the scheduling models for the WSN and RFID nodes, and algorithm </a:t>
                      </a:r>
                    </a:p>
                    <a:p>
                      <a:r>
                        <a:rPr lang="en-US"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3</a:t>
                      </a: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 describes how the proposed EMS works.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IoT Energy Management Scheme (EMS) </a:t>
                      </a:r>
                      <a:endParaRPr lang="en-IN" sz="1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u="none" dirty="0">
                          <a:solidFill>
                            <a:schemeClr val="bg2"/>
                          </a:solidFill>
                          <a:latin typeface="Times New Roman" panose="02020603050405020304" pitchFamily="18" charset="0"/>
                          <a:cs typeface="Times New Roman" panose="02020603050405020304" pitchFamily="18" charset="0"/>
                        </a:rPr>
                        <a:t>IEEE</a:t>
                      </a:r>
                    </a:p>
                    <a:p>
                      <a:r>
                        <a:rPr lang="en-IN" sz="1400" b="0" i="0" u="none" kern="1200" dirty="0">
                          <a:solidFill>
                            <a:schemeClr val="bg2"/>
                          </a:solidFill>
                          <a:effectLst/>
                          <a:latin typeface="Times New Roman" panose="02020603050405020304" pitchFamily="18" charset="0"/>
                          <a:ea typeface="+mn-ea"/>
                          <a:cs typeface="Times New Roman" panose="02020603050405020304" pitchFamily="18" charset="0"/>
                        </a:rPr>
                        <a:t>27 February 2020 </a:t>
                      </a:r>
                      <a:endParaRPr lang="en-IN" sz="1400" u="none" dirty="0">
                        <a:solidFill>
                          <a:schemeClr val="bg2"/>
                        </a:solidFill>
                        <a:latin typeface="Times New Roman" panose="02020603050405020304" pitchFamily="18" charset="0"/>
                        <a:cs typeface="Times New Roman" panose="02020603050405020304" pitchFamily="18" charset="0"/>
                      </a:endParaRPr>
                    </a:p>
                    <a:p>
                      <a:r>
                        <a:rPr lang="en-IN" sz="1400" u="none" dirty="0">
                          <a:solidFill>
                            <a:schemeClr val="bg2"/>
                          </a:solidFill>
                          <a:latin typeface="Times New Roman" panose="02020603050405020304" pitchFamily="18" charset="0"/>
                          <a:cs typeface="Times New Roman" panose="02020603050405020304" pitchFamily="18" charset="0"/>
                        </a:rPr>
                        <a:t>Digital Object</a:t>
                      </a:r>
                    </a:p>
                    <a:p>
                      <a:r>
                        <a:rPr lang="en-IN" sz="1400" u="none" dirty="0">
                          <a:solidFill>
                            <a:schemeClr val="bg2"/>
                          </a:solidFill>
                          <a:latin typeface="Times New Roman" panose="02020603050405020304" pitchFamily="18" charset="0"/>
                          <a:cs typeface="Times New Roman" panose="02020603050405020304" pitchFamily="18" charset="0"/>
                        </a:rPr>
                        <a:t>Identifier</a:t>
                      </a:r>
                      <a:r>
                        <a:rPr lang="en-IN" sz="1400" b="1" i="0" u="none" kern="1200" dirty="0">
                          <a:solidFill>
                            <a:schemeClr val="bg2"/>
                          </a:solidFill>
                          <a:effectLst/>
                          <a:latin typeface="Times New Roman" panose="02020603050405020304" pitchFamily="18" charset="0"/>
                          <a:ea typeface="+mn-ea"/>
                          <a:cs typeface="Times New Roman" panose="02020603050405020304" pitchFamily="18" charset="0"/>
                        </a:rPr>
                        <a:t> </a:t>
                      </a:r>
                      <a:r>
                        <a:rPr lang="en-IN" sz="1400" b="0" i="0" u="none" kern="1200" dirty="0">
                          <a:solidFill>
                            <a:schemeClr val="bg2"/>
                          </a:solidFill>
                          <a:effectLst/>
                          <a:latin typeface="Times New Roman" panose="02020603050405020304" pitchFamily="18" charset="0"/>
                          <a:ea typeface="+mn-ea"/>
                          <a:cs typeface="Times New Roman" panose="02020603050405020304" pitchFamily="18" charset="0"/>
                        </a:rPr>
                        <a:t>10.1109/ACCESS.2020.2976642</a:t>
                      </a:r>
                      <a:endParaRPr lang="en-IN" sz="1400" b="0" u="none" dirty="0">
                        <a:solidFill>
                          <a:schemeClr val="bg2"/>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Green iot environment </a:t>
                      </a:r>
                    </a:p>
                  </a:txBody>
                  <a:tcPr/>
                </a:tc>
                <a:extLst>
                  <a:ext uri="{0D108BD9-81ED-4DB2-BD59-A6C34878D82A}">
                    <a16:rowId xmlns:a16="http://schemas.microsoft.com/office/drawing/2014/main" val="804000901"/>
                  </a:ext>
                </a:extLst>
              </a:tr>
              <a:tr h="13917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Times New Roman" panose="02020603050405020304" pitchFamily="18" charset="0"/>
                          <a:ea typeface="+mn-ea"/>
                          <a:cs typeface="Times New Roman" panose="02020603050405020304" pitchFamily="18" charset="0"/>
                        </a:rPr>
                        <a:t>Smart Urban Living: Enabling Emotion-Guided Interaction With Next Generation Sensing Fabric</a:t>
                      </a:r>
                    </a:p>
                    <a:p>
                      <a:endParaRPr lang="en-IN"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To bring updation in modern iot in every day life </a:t>
                      </a:r>
                    </a:p>
                  </a:txBody>
                  <a:tcPr/>
                </a:tc>
                <a:tc>
                  <a:txBody>
                    <a:bodyPr/>
                    <a:lstStyle/>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data analysis algorithm,</a:t>
                      </a:r>
                    </a:p>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decision fusion algorithm, deep learning, genetic algorithm.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IoT, deep learning, AI, </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0" i="0" u="none" kern="1200" dirty="0">
                          <a:solidFill>
                            <a:schemeClr val="dk1"/>
                          </a:solidFill>
                          <a:effectLst/>
                          <a:latin typeface="Times New Roman" panose="02020603050405020304" pitchFamily="18" charset="0"/>
                          <a:ea typeface="+mn-ea"/>
                          <a:cs typeface="Times New Roman" panose="02020603050405020304" pitchFamily="18" charset="0"/>
                        </a:rPr>
                        <a:t>IEEE</a:t>
                      </a:r>
                    </a:p>
                    <a:p>
                      <a:r>
                        <a:rPr lang="en-IN" sz="1400" b="0" i="0" kern="1200" dirty="0">
                          <a:solidFill>
                            <a:schemeClr val="dk1"/>
                          </a:solidFill>
                          <a:effectLst/>
                          <a:latin typeface="Times New Roman" panose="02020603050405020304" pitchFamily="18" charset="0"/>
                          <a:ea typeface="+mn-ea"/>
                          <a:cs typeface="Times New Roman" panose="02020603050405020304" pitchFamily="18" charset="0"/>
                        </a:rPr>
                        <a:t>24 December</a:t>
                      </a:r>
                      <a:r>
                        <a:rPr lang="en-IN" sz="1800" b="0" i="0" kern="1200" dirty="0">
                          <a:solidFill>
                            <a:schemeClr val="dk1"/>
                          </a:solidFill>
                          <a:effectLst/>
                          <a:latin typeface="+mn-lt"/>
                          <a:ea typeface="+mn-ea"/>
                          <a:cs typeface="+mn-cs"/>
                        </a:rPr>
                        <a:t> </a:t>
                      </a:r>
                      <a:r>
                        <a:rPr lang="en-IN" sz="1400" b="0" i="0" u="none" kern="1200" dirty="0">
                          <a:solidFill>
                            <a:schemeClr val="dk1"/>
                          </a:solidFill>
                          <a:effectLst/>
                          <a:latin typeface="Times New Roman" panose="02020603050405020304" pitchFamily="18" charset="0"/>
                          <a:ea typeface="+mn-ea"/>
                          <a:cs typeface="Times New Roman" panose="02020603050405020304" pitchFamily="18" charset="0"/>
                        </a:rPr>
                        <a:t>2019</a:t>
                      </a:r>
                    </a:p>
                    <a:p>
                      <a:r>
                        <a:rPr lang="en-IN" sz="1400" u="none" dirty="0">
                          <a:solidFill>
                            <a:schemeClr val="bg2"/>
                          </a:solidFill>
                          <a:latin typeface="Times New Roman" panose="02020603050405020304" pitchFamily="18" charset="0"/>
                          <a:cs typeface="Times New Roman" panose="02020603050405020304" pitchFamily="18" charset="0"/>
                        </a:rPr>
                        <a:t>Digital Object Identifier</a:t>
                      </a:r>
                      <a:r>
                        <a:rPr lang="en-IN" sz="1800" b="1" i="0" kern="1200" dirty="0">
                          <a:solidFill>
                            <a:schemeClr val="dk1"/>
                          </a:solidFill>
                          <a:effectLst/>
                          <a:latin typeface="+mn-lt"/>
                          <a:ea typeface="+mn-ea"/>
                          <a:cs typeface="+mn-cs"/>
                        </a:rPr>
                        <a:t> </a:t>
                      </a:r>
                      <a:r>
                        <a:rPr lang="en-IN" sz="1400" b="0" i="0" u="none" kern="1200" dirty="0">
                          <a:solidFill>
                            <a:schemeClr val="bg2"/>
                          </a:solidFill>
                          <a:effectLst/>
                          <a:latin typeface="Times New Roman" panose="02020603050405020304" pitchFamily="18" charset="0"/>
                          <a:ea typeface="+mn-ea"/>
                          <a:cs typeface="Times New Roman" panose="02020603050405020304" pitchFamily="18" charset="0"/>
                        </a:rPr>
                        <a:t>10.1109/ACCESS.2019.2961957</a:t>
                      </a:r>
                      <a:endParaRPr lang="en-IN" sz="1400" b="0" u="sng" dirty="0">
                        <a:solidFill>
                          <a:schemeClr val="bg1"/>
                        </a:solidFill>
                        <a:latin typeface="Times New Roman" panose="02020603050405020304" pitchFamily="18" charset="0"/>
                        <a:cs typeface="Times New Roman" panose="02020603050405020304" pitchFamily="18" charset="0"/>
                      </a:endParaRPr>
                    </a:p>
                  </a:txBody>
                  <a:tcPr/>
                </a:tc>
                <a:tc>
                  <a:txBody>
                    <a:bodyPr/>
                    <a:lstStyle/>
                    <a:p>
                      <a:r>
                        <a:rPr lang="en-US" sz="1400" dirty="0">
                          <a:latin typeface="Times New Roman" panose="02020603050405020304" pitchFamily="18" charset="0"/>
                          <a:cs typeface="Times New Roman" panose="02020603050405020304" pitchFamily="18" charset="0"/>
                        </a:rPr>
                        <a:t>Urbun living architecture is complex</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2878500"/>
                  </a:ext>
                </a:extLst>
              </a:tr>
            </a:tbl>
          </a:graphicData>
        </a:graphic>
      </p:graphicFrame>
      <p:pic>
        <p:nvPicPr>
          <p:cNvPr id="4" name="Picture 3" descr="㿷ᛷ਴">
            <a:extLst>
              <a:ext uri="{FF2B5EF4-FFF2-40B4-BE49-F238E27FC236}">
                <a16:creationId xmlns:a16="http://schemas.microsoft.com/office/drawing/2014/main" id="{BE90FD5B-9AD6-45CE-BF0B-9BE99541C383}"/>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88560DC4-F08B-4DEB-BC81-3A745A8BA0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4277964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A526C-D5B9-4293-9709-1107CBA0E6F4}"/>
              </a:ext>
            </a:extLst>
          </p:cNvPr>
          <p:cNvSpPr>
            <a:spLocks noGrp="1"/>
          </p:cNvSpPr>
          <p:nvPr>
            <p:ph type="title"/>
          </p:nvPr>
        </p:nvSpPr>
        <p:spPr>
          <a:xfrm>
            <a:off x="1273298" y="90979"/>
            <a:ext cx="9905998" cy="744290"/>
          </a:xfrm>
        </p:spPr>
        <p:txBody>
          <a:bodyPr/>
          <a:lstStyle/>
          <a:p>
            <a:r>
              <a:rPr lang="en-US" dirty="0"/>
              <a:t>			</a:t>
            </a:r>
            <a:r>
              <a:rPr lang="en-US" sz="3600" b="1"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objective</a:t>
            </a:r>
            <a:endParaRPr lang="en-IN" sz="2800" dirty="0"/>
          </a:p>
        </p:txBody>
      </p:sp>
      <p:sp>
        <p:nvSpPr>
          <p:cNvPr id="3" name="Content Placeholder 2">
            <a:extLst>
              <a:ext uri="{FF2B5EF4-FFF2-40B4-BE49-F238E27FC236}">
                <a16:creationId xmlns:a16="http://schemas.microsoft.com/office/drawing/2014/main" id="{6F477924-D2B5-4DD3-AACA-83852CBE02D9}"/>
              </a:ext>
            </a:extLst>
          </p:cNvPr>
          <p:cNvSpPr>
            <a:spLocks noGrp="1"/>
          </p:cNvSpPr>
          <p:nvPr>
            <p:ph idx="1"/>
          </p:nvPr>
        </p:nvSpPr>
        <p:spPr>
          <a:xfrm>
            <a:off x="536329" y="967152"/>
            <a:ext cx="10348547" cy="5644663"/>
          </a:xfrm>
        </p:spPr>
        <p:txBody>
          <a:bodyPr>
            <a:noAutofit/>
          </a:bodyPr>
          <a:lstStyle/>
          <a:p>
            <a:pPr marL="800100" marR="24130" lvl="1" indent="-342900" algn="just">
              <a:lnSpc>
                <a:spcPct val="150000"/>
              </a:lnSpc>
              <a:buSzPts val="1000"/>
              <a:buFont typeface="+mj-lt"/>
              <a:buAutoNum type="arabicPeriod"/>
              <a:tabLst>
                <a:tab pos="325755" algn="l"/>
              </a:tabLst>
            </a:pPr>
            <a:r>
              <a:rPr lang="en-US" sz="1800" spc="-40" dirty="0">
                <a:latin typeface="Times New Roman" panose="02020603050405020304" pitchFamily="18" charset="0"/>
                <a:ea typeface="Times New Roman" panose="02020603050405020304" pitchFamily="18" charset="0"/>
              </a:rPr>
              <a:t>To</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define</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device</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resource</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sharing</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model</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according</a:t>
            </a:r>
            <a:r>
              <a:rPr lang="en-US" sz="1800" spc="-40" dirty="0">
                <a:effectLst/>
                <a:latin typeface="Times New Roman" panose="02020603050405020304" pitchFamily="18" charset="0"/>
                <a:ea typeface="Times New Roman" panose="02020603050405020304" pitchFamily="18" charset="0"/>
              </a:rPr>
              <a:t> </a:t>
            </a:r>
            <a:r>
              <a:rPr lang="en-US" sz="1800" spc="-45" dirty="0">
                <a:effectLst/>
                <a:latin typeface="Times New Roman" panose="02020603050405020304" pitchFamily="18" charset="0"/>
                <a:ea typeface="Times New Roman" panose="02020603050405020304" pitchFamily="18" charset="0"/>
              </a:rPr>
              <a:t>to </a:t>
            </a:r>
            <a:r>
              <a:rPr lang="en-US" sz="1800" dirty="0">
                <a:effectLst/>
                <a:latin typeface="Times New Roman" panose="02020603050405020304" pitchFamily="18" charset="0"/>
                <a:ea typeface="Times New Roman" panose="02020603050405020304" pitchFamily="18" charset="0"/>
              </a:rPr>
              <a:t>the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production</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IoT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devices</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real</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life.</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0" dirty="0">
                <a:effectLst/>
                <a:latin typeface="Times New Roman" panose="02020603050405020304" pitchFamily="18" charset="0"/>
                <a:ea typeface="Times New Roman" panose="02020603050405020304" pitchFamily="18" charset="0"/>
              </a:rPr>
              <a:t> model </a:t>
            </a:r>
            <a:r>
              <a:rPr lang="en-US" sz="1800" dirty="0">
                <a:effectLst/>
                <a:latin typeface="Times New Roman" panose="02020603050405020304" pitchFamily="18" charset="0"/>
                <a:ea typeface="Times New Roman" panose="02020603050405020304" pitchFamily="18" charset="0"/>
              </a:rPr>
              <a:t>makes</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data</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resources</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generated</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device</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correspond to</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URL</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one</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by</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one,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greatly</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simplifying</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sharing</a:t>
            </a:r>
            <a:r>
              <a:rPr lang="en-US" sz="1800" spc="-35" dirty="0">
                <a:effectLst/>
                <a:latin typeface="Times New Roman" panose="02020603050405020304" pitchFamily="18" charset="0"/>
                <a:ea typeface="Times New Roman" panose="02020603050405020304" pitchFamily="18" charset="0"/>
              </a:rPr>
              <a:t> </a:t>
            </a:r>
            <a:r>
              <a:rPr lang="en-US" sz="1800" spc="-15" dirty="0">
                <a:effectLst/>
                <a:latin typeface="Times New Roman" panose="02020603050405020304" pitchFamily="18" charset="0"/>
                <a:ea typeface="Times New Roman" panose="02020603050405020304" pitchFamily="18" charset="0"/>
              </a:rPr>
              <a:t>mode </a:t>
            </a:r>
            <a:r>
              <a:rPr lang="en-US" sz="1800" dirty="0">
                <a:effectLst/>
                <a:latin typeface="Times New Roman" panose="02020603050405020304" pitchFamily="18" charset="0"/>
                <a:ea typeface="Times New Roman" panose="02020603050405020304" pitchFamily="18" charset="0"/>
              </a:rPr>
              <a:t>and storage structure of the device</a:t>
            </a:r>
            <a:r>
              <a:rPr lang="en-US" sz="1800" spc="-5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resources.</a:t>
            </a:r>
            <a:endParaRPr lang="en-IN" sz="1800" dirty="0">
              <a:effectLst/>
              <a:latin typeface="Times New Roman" panose="02020603050405020304" pitchFamily="18" charset="0"/>
              <a:ea typeface="Times New Roman" panose="02020603050405020304" pitchFamily="18" charset="0"/>
            </a:endParaRPr>
          </a:p>
          <a:p>
            <a:pPr marL="800100" marR="24130" lvl="1" indent="-342900" algn="just">
              <a:lnSpc>
                <a:spcPct val="150000"/>
              </a:lnSpc>
              <a:buSzPts val="1000"/>
              <a:buFont typeface="+mj-lt"/>
              <a:buAutoNum type="arabicPeriod"/>
              <a:tabLst>
                <a:tab pos="339090" algn="l"/>
              </a:tabLst>
            </a:pPr>
            <a:r>
              <a:rPr lang="en-US" sz="1800" spc="-40" dirty="0">
                <a:latin typeface="Times New Roman" panose="02020603050405020304" pitchFamily="18" charset="0"/>
                <a:ea typeface="Times New Roman" panose="02020603050405020304" pitchFamily="18" charset="0"/>
              </a:rPr>
              <a:t>To</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propose a blockchain-based access control </a:t>
            </a:r>
            <a:r>
              <a:rPr lang="en-US" sz="1800" spc="-15" dirty="0">
                <a:effectLst/>
                <a:latin typeface="Times New Roman" panose="02020603050405020304" pitchFamily="18" charset="0"/>
                <a:ea typeface="Times New Roman" panose="02020603050405020304" pitchFamily="18" charset="0"/>
              </a:rPr>
              <a:t>system </a:t>
            </a:r>
            <a:r>
              <a:rPr lang="en-US" sz="1800" dirty="0">
                <a:effectLst/>
                <a:latin typeface="Times New Roman" panose="02020603050405020304" pitchFamily="18" charset="0"/>
                <a:ea typeface="Times New Roman" panose="02020603050405020304" pitchFamily="18" charset="0"/>
              </a:rPr>
              <a:t>for</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IoT</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named</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fabric-iot</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describe</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its</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workflow</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55" dirty="0">
                <a:effectLst/>
                <a:latin typeface="Times New Roman" panose="02020603050405020304" pitchFamily="18" charset="0"/>
                <a:ea typeface="Times New Roman" panose="02020603050405020304" pitchFamily="18" charset="0"/>
              </a:rPr>
              <a:t> </a:t>
            </a:r>
            <a:r>
              <a:rPr lang="en-US" sz="1800" spc="-15" dirty="0">
                <a:effectLst/>
                <a:latin typeface="Times New Roman" panose="02020603050405020304" pitchFamily="18" charset="0"/>
                <a:ea typeface="Times New Roman" panose="02020603050405020304" pitchFamily="18" charset="0"/>
              </a:rPr>
              <a:t>archi</a:t>
            </a:r>
            <a:r>
              <a:rPr lang="en-US" sz="1800" dirty="0">
                <a:effectLst/>
                <a:latin typeface="Times New Roman" panose="02020603050405020304" pitchFamily="18" charset="0"/>
                <a:ea typeface="Times New Roman" panose="02020603050405020304" pitchFamily="18" charset="0"/>
              </a:rPr>
              <a:t>tecture in detail. The system uses distributed architecture </a:t>
            </a:r>
            <a:r>
              <a:rPr lang="en-US" sz="1800" spc="-35" dirty="0">
                <a:effectLst/>
                <a:latin typeface="Times New Roman" panose="02020603050405020304" pitchFamily="18" charset="0"/>
                <a:ea typeface="Times New Roman" panose="02020603050405020304" pitchFamily="18" charset="0"/>
              </a:rPr>
              <a:t>to </a:t>
            </a:r>
            <a:r>
              <a:rPr lang="en-US" sz="1800" dirty="0">
                <a:effectLst/>
                <a:latin typeface="Times New Roman" panose="02020603050405020304" pitchFamily="18" charset="0"/>
                <a:ea typeface="Times New Roman" panose="02020603050405020304" pitchFamily="18" charset="0"/>
              </a:rPr>
              <a:t>separate users and devices, and implemented the dynamic management of permissions to support efficient</a:t>
            </a:r>
            <a:r>
              <a:rPr lang="en-US" sz="1800" spc="-7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access.</a:t>
            </a:r>
            <a:endParaRPr lang="en-IN" sz="1800" dirty="0">
              <a:effectLst/>
              <a:latin typeface="Times New Roman" panose="02020603050405020304" pitchFamily="18" charset="0"/>
              <a:ea typeface="Times New Roman" panose="02020603050405020304" pitchFamily="18" charset="0"/>
            </a:endParaRPr>
          </a:p>
          <a:p>
            <a:pPr marL="800100" marR="24130" lvl="1" indent="-342900" algn="just">
              <a:lnSpc>
                <a:spcPct val="150000"/>
              </a:lnSpc>
              <a:buSzPts val="1000"/>
              <a:buFont typeface="+mj-lt"/>
              <a:buAutoNum type="arabicPeriod"/>
              <a:tabLst>
                <a:tab pos="337185" algn="l"/>
              </a:tabLst>
            </a:pPr>
            <a:r>
              <a:rPr lang="en-US" sz="1800" spc="-40" dirty="0">
                <a:latin typeface="Times New Roman" panose="02020603050405020304" pitchFamily="18" charset="0"/>
                <a:ea typeface="Times New Roman" panose="02020603050405020304" pitchFamily="18" charset="0"/>
              </a:rPr>
              <a:t>To</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design three kinds of smart contracts based on </a:t>
            </a:r>
            <a:r>
              <a:rPr lang="en-US" sz="1800" spc="-25" dirty="0">
                <a:effectLst/>
                <a:latin typeface="Times New Roman" panose="02020603050405020304" pitchFamily="18" charset="0"/>
                <a:ea typeface="Times New Roman" panose="02020603050405020304" pitchFamily="18" charset="0"/>
              </a:rPr>
              <a:t>the </a:t>
            </a:r>
            <a:r>
              <a:rPr lang="en-US" sz="1800" dirty="0">
                <a:effectLst/>
                <a:latin typeface="Times New Roman" panose="02020603050405020304" pitchFamily="18" charset="0"/>
                <a:ea typeface="Times New Roman" panose="02020603050405020304" pitchFamily="18" charset="0"/>
              </a:rPr>
              <a:t>Hyperledger Fabric platform. The first one implements </a:t>
            </a:r>
            <a:r>
              <a:rPr lang="en-US" sz="1800" spc="-25" dirty="0">
                <a:effectLst/>
                <a:latin typeface="Times New Roman" panose="02020603050405020304" pitchFamily="18" charset="0"/>
                <a:ea typeface="Times New Roman" panose="02020603050405020304" pitchFamily="18" charset="0"/>
              </a:rPr>
              <a:t>the </a:t>
            </a:r>
            <a:r>
              <a:rPr lang="en-US" sz="1800" spc="-20" dirty="0">
                <a:effectLst/>
                <a:latin typeface="Times New Roman" panose="02020603050405020304" pitchFamily="18" charset="0"/>
                <a:ea typeface="Times New Roman" panose="02020603050405020304" pitchFamily="18" charset="0"/>
              </a:rPr>
              <a:t>ABAC </a:t>
            </a:r>
            <a:r>
              <a:rPr lang="en-US" sz="1800" dirty="0">
                <a:effectLst/>
                <a:latin typeface="Times New Roman" panose="02020603050405020304" pitchFamily="18" charset="0"/>
                <a:ea typeface="Times New Roman" panose="02020603050405020304" pitchFamily="18" charset="0"/>
              </a:rPr>
              <a:t>model. The second one implements the </a:t>
            </a:r>
            <a:r>
              <a:rPr lang="en-US" sz="1800" spc="-20" dirty="0">
                <a:effectLst/>
                <a:latin typeface="Times New Roman" panose="02020603050405020304" pitchFamily="18" charset="0"/>
                <a:ea typeface="Times New Roman" panose="02020603050405020304" pitchFamily="18" charset="0"/>
              </a:rPr>
              <a:t>ABAC</a:t>
            </a:r>
            <a:r>
              <a:rPr lang="en-US" sz="1800" spc="-135" dirty="0">
                <a:effectLst/>
                <a:latin typeface="Times New Roman" panose="02020603050405020304" pitchFamily="18" charset="0"/>
                <a:ea typeface="Times New Roman" panose="02020603050405020304" pitchFamily="18" charset="0"/>
              </a:rPr>
              <a:t> </a:t>
            </a:r>
            <a:r>
              <a:rPr lang="en-US" sz="1800" spc="-20" dirty="0">
                <a:effectLst/>
                <a:latin typeface="Times New Roman" panose="02020603050405020304" pitchFamily="18" charset="0"/>
                <a:ea typeface="Times New Roman" panose="02020603050405020304" pitchFamily="18" charset="0"/>
              </a:rPr>
              <a:t>policy </a:t>
            </a:r>
            <a:r>
              <a:rPr lang="en-US" sz="1800" dirty="0">
                <a:effectLst/>
                <a:latin typeface="Times New Roman" panose="02020603050405020304" pitchFamily="18" charset="0"/>
                <a:ea typeface="Times New Roman" panose="02020603050405020304" pitchFamily="18" charset="0"/>
              </a:rPr>
              <a:t>management. The last one implements the device resource management.</a:t>
            </a:r>
            <a:endParaRPr lang="en-IN" sz="1800" dirty="0">
              <a:effectLst/>
              <a:latin typeface="Times New Roman" panose="02020603050405020304" pitchFamily="18" charset="0"/>
              <a:ea typeface="Times New Roman" panose="02020603050405020304" pitchFamily="18" charset="0"/>
            </a:endParaRPr>
          </a:p>
          <a:p>
            <a:pPr marL="800100" marR="24130" lvl="1" indent="-342900" algn="just">
              <a:lnSpc>
                <a:spcPct val="150000"/>
              </a:lnSpc>
              <a:buSzPts val="1000"/>
              <a:buFont typeface="+mj-lt"/>
              <a:buAutoNum type="arabicPeriod"/>
              <a:tabLst>
                <a:tab pos="370205" algn="l"/>
              </a:tabLst>
            </a:pPr>
            <a:r>
              <a:rPr lang="en-US" sz="1800" dirty="0">
                <a:effectLst/>
                <a:latin typeface="Times New Roman" panose="02020603050405020304" pitchFamily="18" charset="0"/>
                <a:ea typeface="Times New Roman" panose="02020603050405020304" pitchFamily="18" charset="0"/>
              </a:rPr>
              <a:t>To introduce the network initialization, chain code installation,</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smart</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contract</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invoking</a:t>
            </a:r>
            <a:r>
              <a:rPr lang="en-US" sz="1800" spc="-9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fabric-iot</a:t>
            </a:r>
            <a:r>
              <a:rPr lang="en-US" sz="1800" spc="-10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a:t>
            </a:r>
            <a:r>
              <a:rPr lang="en-US" sz="1800" spc="-100" dirty="0">
                <a:effectLst/>
                <a:latin typeface="Times New Roman" panose="02020603050405020304" pitchFamily="18" charset="0"/>
                <a:ea typeface="Times New Roman" panose="02020603050405020304" pitchFamily="18" charset="0"/>
              </a:rPr>
              <a:t> </a:t>
            </a:r>
            <a:r>
              <a:rPr lang="en-US" sz="1800" spc="-15" dirty="0">
                <a:effectLst/>
                <a:latin typeface="Times New Roman" panose="02020603050405020304" pitchFamily="18" charset="0"/>
                <a:ea typeface="Times New Roman" panose="02020603050405020304" pitchFamily="18" charset="0"/>
              </a:rPr>
              <a:t>detail.</a:t>
            </a:r>
            <a:endParaRPr lang="en-IN" sz="1800" dirty="0">
              <a:effectLst/>
              <a:latin typeface="Times New Roman" panose="02020603050405020304" pitchFamily="18" charset="0"/>
              <a:ea typeface="Times New Roman" panose="02020603050405020304" pitchFamily="18" charset="0"/>
            </a:endParaRPr>
          </a:p>
          <a:p>
            <a:pPr marL="800100" marR="24130" lvl="1" indent="-342900" algn="just">
              <a:lnSpc>
                <a:spcPct val="150000"/>
              </a:lnSpc>
              <a:buSzPts val="1000"/>
              <a:buFont typeface="+mj-lt"/>
              <a:buAutoNum type="arabicPeriod"/>
              <a:tabLst>
                <a:tab pos="342900" algn="l"/>
              </a:tabLst>
            </a:pPr>
            <a:r>
              <a:rPr lang="en-US" sz="1800" spc="-40" dirty="0">
                <a:latin typeface="Times New Roman" panose="02020603050405020304" pitchFamily="18" charset="0"/>
                <a:ea typeface="Times New Roman" panose="02020603050405020304" pitchFamily="18" charset="0"/>
              </a:rPr>
              <a:t>To</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design two groups of comparative experiments </a:t>
            </a:r>
            <a:r>
              <a:rPr lang="en-US" sz="1800" spc="-40" dirty="0">
                <a:effectLst/>
                <a:latin typeface="Times New Roman" panose="02020603050405020304" pitchFamily="18" charset="0"/>
                <a:ea typeface="Times New Roman" panose="02020603050405020304" pitchFamily="18" charset="0"/>
              </a:rPr>
              <a:t>to </a:t>
            </a:r>
            <a:r>
              <a:rPr lang="en-US" sz="1800" dirty="0">
                <a:effectLst/>
                <a:latin typeface="Times New Roman" panose="02020603050405020304" pitchFamily="18" charset="0"/>
                <a:ea typeface="Times New Roman" panose="02020603050405020304" pitchFamily="18" charset="0"/>
              </a:rPr>
              <a:t>verify the system performance and consensus</a:t>
            </a:r>
            <a:r>
              <a:rPr lang="en-US" sz="1800" spc="-6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speed</a:t>
            </a:r>
            <a:endParaRPr lang="en-IN" sz="1800" dirty="0">
              <a:effectLst/>
              <a:latin typeface="Times New Roman" panose="02020603050405020304" pitchFamily="18" charset="0"/>
              <a:ea typeface="Times New Roman" panose="02020603050405020304" pitchFamily="18" charset="0"/>
            </a:endParaRPr>
          </a:p>
        </p:txBody>
      </p:sp>
      <p:pic>
        <p:nvPicPr>
          <p:cNvPr id="4" name="Picture 3" descr="㿷ᛷ਴">
            <a:extLst>
              <a:ext uri="{FF2B5EF4-FFF2-40B4-BE49-F238E27FC236}">
                <a16:creationId xmlns:a16="http://schemas.microsoft.com/office/drawing/2014/main" id="{DD982A01-0AAC-4AA1-A8E4-EEDE969360BA}"/>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768B49E9-9A0C-4815-AEFA-5E2375B32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2529537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CC7B-9A89-4D89-8158-078473C010A6}"/>
              </a:ext>
            </a:extLst>
          </p:cNvPr>
          <p:cNvSpPr>
            <a:spLocks noGrp="1"/>
          </p:cNvSpPr>
          <p:nvPr>
            <p:ph type="title"/>
          </p:nvPr>
        </p:nvSpPr>
        <p:spPr>
          <a:xfrm>
            <a:off x="1317259" y="126149"/>
            <a:ext cx="9717087" cy="515690"/>
          </a:xfrm>
        </p:spPr>
        <p:txBody>
          <a:bodyPr>
            <a:normAutofit fontScale="90000"/>
          </a:bodyPr>
          <a:lstStyle/>
          <a:p>
            <a:r>
              <a:rPr lang="en-US" sz="3600" b="1" dirty="0">
                <a:latin typeface="Times New Roman" panose="02020603050405020304" pitchFamily="18" charset="0"/>
                <a:cs typeface="Times New Roman" panose="02020603050405020304" pitchFamily="18" charset="0"/>
              </a:rPr>
              <a:t>			Methodology</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F24C54E4-F513-4502-83CD-D3AAD767C78A}"/>
              </a:ext>
            </a:extLst>
          </p:cNvPr>
          <p:cNvPicPr>
            <a:picLocks noGrp="1" noChangeAspect="1"/>
          </p:cNvPicPr>
          <p:nvPr>
            <p:ph idx="1"/>
          </p:nvPr>
        </p:nvPicPr>
        <p:blipFill rotWithShape="1">
          <a:blip r:embed="rId2"/>
          <a:srcRect l="53172" t="33552" b="20971"/>
          <a:stretch/>
        </p:blipFill>
        <p:spPr>
          <a:xfrm>
            <a:off x="1468315" y="1837589"/>
            <a:ext cx="9319846" cy="3789488"/>
          </a:xfrm>
        </p:spPr>
      </p:pic>
      <p:pic>
        <p:nvPicPr>
          <p:cNvPr id="4" name="Picture 3" descr="㿷ᛷ਴">
            <a:extLst>
              <a:ext uri="{FF2B5EF4-FFF2-40B4-BE49-F238E27FC236}">
                <a16:creationId xmlns:a16="http://schemas.microsoft.com/office/drawing/2014/main" id="{50469253-FBD8-48F3-9BEB-9FB293009196}"/>
              </a:ext>
            </a:extLst>
          </p:cNvPr>
          <p:cNvPicPr/>
          <p:nvPr/>
        </p:nvPicPr>
        <p:blipFill>
          <a:blip r:embed="rId3"/>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BD0D183C-A975-42CA-BF64-F3E785AB4A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
        <p:nvSpPr>
          <p:cNvPr id="8" name="TextBox 7">
            <a:extLst>
              <a:ext uri="{FF2B5EF4-FFF2-40B4-BE49-F238E27FC236}">
                <a16:creationId xmlns:a16="http://schemas.microsoft.com/office/drawing/2014/main" id="{CFD39B75-F80B-49E4-BD9D-0E75231AB78B}"/>
              </a:ext>
            </a:extLst>
          </p:cNvPr>
          <p:cNvSpPr txBox="1"/>
          <p:nvPr/>
        </p:nvSpPr>
        <p:spPr>
          <a:xfrm>
            <a:off x="2215661" y="5802895"/>
            <a:ext cx="7928463"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Figure 1: Architecture Of Fabric IOT</a:t>
            </a:r>
            <a:endParaRPr lang="en-IN" dirty="0"/>
          </a:p>
        </p:txBody>
      </p:sp>
    </p:spTree>
    <p:extLst>
      <p:ext uri="{BB962C8B-B14F-4D97-AF65-F5344CB8AC3E}">
        <p14:creationId xmlns:p14="http://schemas.microsoft.com/office/powerpoint/2010/main" val="354063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2FE76-0A39-473A-BE03-AE39BEA3E8B2}"/>
              </a:ext>
            </a:extLst>
          </p:cNvPr>
          <p:cNvSpPr>
            <a:spLocks noGrp="1"/>
          </p:cNvSpPr>
          <p:nvPr>
            <p:ph type="title"/>
          </p:nvPr>
        </p:nvSpPr>
        <p:spPr>
          <a:xfrm>
            <a:off x="1220544" y="187695"/>
            <a:ext cx="9769841" cy="506897"/>
          </a:xfrm>
        </p:spPr>
        <p:txBody>
          <a:bodyPr>
            <a:normAutofit/>
          </a:bodyPr>
          <a:lstStyle/>
          <a:p>
            <a:r>
              <a:rPr lang="en-US" sz="2800" b="1" dirty="0">
                <a:latin typeface="Times New Roman" panose="02020603050405020304" pitchFamily="18" charset="0"/>
                <a:cs typeface="Times New Roman" panose="02020603050405020304" pitchFamily="18" charset="0"/>
              </a:rPr>
              <a:t>Cont.</a:t>
            </a:r>
            <a:r>
              <a:rPr lang="en-US" sz="2800" dirty="0">
                <a:latin typeface="Times New Roman" panose="02020603050405020304" pitchFamily="18" charset="0"/>
                <a:cs typeface="Times New Roman" panose="02020603050405020304" pitchFamily="18" charset="0"/>
              </a:rPr>
              <a:t>… </a:t>
            </a:r>
            <a:endParaRPr lang="en-IN" sz="2800" dirty="0"/>
          </a:p>
        </p:txBody>
      </p:sp>
      <p:pic>
        <p:nvPicPr>
          <p:cNvPr id="7" name="Content Placeholder 6">
            <a:extLst>
              <a:ext uri="{FF2B5EF4-FFF2-40B4-BE49-F238E27FC236}">
                <a16:creationId xmlns:a16="http://schemas.microsoft.com/office/drawing/2014/main" id="{4867B926-8262-49B7-B035-212A595162C6}"/>
              </a:ext>
            </a:extLst>
          </p:cNvPr>
          <p:cNvPicPr>
            <a:picLocks noGrp="1" noChangeAspect="1"/>
          </p:cNvPicPr>
          <p:nvPr>
            <p:ph idx="1"/>
          </p:nvPr>
        </p:nvPicPr>
        <p:blipFill rotWithShape="1">
          <a:blip r:embed="rId2"/>
          <a:srcRect l="2372" t="18254" r="51364" b="14170"/>
          <a:stretch/>
        </p:blipFill>
        <p:spPr>
          <a:xfrm>
            <a:off x="1310054" y="1266093"/>
            <a:ext cx="9205546" cy="4457700"/>
          </a:xfrm>
        </p:spPr>
      </p:pic>
      <p:pic>
        <p:nvPicPr>
          <p:cNvPr id="4" name="Picture 3" descr="㿷ᛷ਴">
            <a:extLst>
              <a:ext uri="{FF2B5EF4-FFF2-40B4-BE49-F238E27FC236}">
                <a16:creationId xmlns:a16="http://schemas.microsoft.com/office/drawing/2014/main" id="{CCBBC13F-66DA-49B2-9DDF-CED180536B41}"/>
              </a:ext>
            </a:extLst>
          </p:cNvPr>
          <p:cNvPicPr/>
          <p:nvPr/>
        </p:nvPicPr>
        <p:blipFill>
          <a:blip r:embed="rId3"/>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71608E82-0320-4470-A24F-B990A27F61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
        <p:nvSpPr>
          <p:cNvPr id="8" name="TextBox 7">
            <a:extLst>
              <a:ext uri="{FF2B5EF4-FFF2-40B4-BE49-F238E27FC236}">
                <a16:creationId xmlns:a16="http://schemas.microsoft.com/office/drawing/2014/main" id="{9BE710C5-2653-400A-8F16-B09FBD7A6DD1}"/>
              </a:ext>
            </a:extLst>
          </p:cNvPr>
          <p:cNvSpPr txBox="1"/>
          <p:nvPr/>
        </p:nvSpPr>
        <p:spPr>
          <a:xfrm>
            <a:off x="3651004" y="5829272"/>
            <a:ext cx="6106258"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Figure 2: Connections between Users and Resources.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8981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0CC7B-9A89-4D89-8158-078473C010A6}"/>
              </a:ext>
            </a:extLst>
          </p:cNvPr>
          <p:cNvSpPr>
            <a:spLocks noGrp="1"/>
          </p:cNvSpPr>
          <p:nvPr>
            <p:ph type="title"/>
          </p:nvPr>
        </p:nvSpPr>
        <p:spPr>
          <a:xfrm>
            <a:off x="1317259" y="126149"/>
            <a:ext cx="9717087" cy="515690"/>
          </a:xfrm>
        </p:spPr>
        <p:txBody>
          <a:bodyPr>
            <a:normAutofit fontScale="90000"/>
          </a:bodyPr>
          <a:lstStyle/>
          <a:p>
            <a:r>
              <a:rPr lang="en-US" sz="3100" b="1" dirty="0">
                <a:latin typeface="Times New Roman" panose="02020603050405020304" pitchFamily="18" charset="0"/>
                <a:cs typeface="Times New Roman" panose="02020603050405020304" pitchFamily="18" charset="0"/>
              </a:rPr>
              <a:t>Cont.</a:t>
            </a: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A092A7CF-0DCD-46DA-ADB3-289D3E8CCBAC}"/>
              </a:ext>
            </a:extLst>
          </p:cNvPr>
          <p:cNvPicPr>
            <a:picLocks noGrp="1" noChangeAspect="1"/>
          </p:cNvPicPr>
          <p:nvPr>
            <p:ph idx="1"/>
          </p:nvPr>
        </p:nvPicPr>
        <p:blipFill rotWithShape="1">
          <a:blip r:embed="rId2"/>
          <a:srcRect l="4238" t="24211" r="51619" b="15593"/>
          <a:stretch/>
        </p:blipFill>
        <p:spPr>
          <a:xfrm>
            <a:off x="1688123" y="1178658"/>
            <a:ext cx="8836269" cy="4202234"/>
          </a:xfrm>
        </p:spPr>
      </p:pic>
      <p:pic>
        <p:nvPicPr>
          <p:cNvPr id="4" name="Picture 3" descr="㿷ᛷ਴">
            <a:extLst>
              <a:ext uri="{FF2B5EF4-FFF2-40B4-BE49-F238E27FC236}">
                <a16:creationId xmlns:a16="http://schemas.microsoft.com/office/drawing/2014/main" id="{50469253-FBD8-48F3-9BEB-9FB293009196}"/>
              </a:ext>
            </a:extLst>
          </p:cNvPr>
          <p:cNvPicPr/>
          <p:nvPr/>
        </p:nvPicPr>
        <p:blipFill>
          <a:blip r:embed="rId3"/>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BD0D183C-A975-42CA-BF64-F3E785AB4A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
        <p:nvSpPr>
          <p:cNvPr id="6" name="TextBox 5">
            <a:extLst>
              <a:ext uri="{FF2B5EF4-FFF2-40B4-BE49-F238E27FC236}">
                <a16:creationId xmlns:a16="http://schemas.microsoft.com/office/drawing/2014/main" id="{1AB0321B-3934-44DC-82DA-AEA3412F91F5}"/>
              </a:ext>
            </a:extLst>
          </p:cNvPr>
          <p:cNvSpPr txBox="1"/>
          <p:nvPr/>
        </p:nvSpPr>
        <p:spPr>
          <a:xfrm>
            <a:off x="3015762" y="5829272"/>
            <a:ext cx="67415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Figure 3:Workflow of Fabric-IOT.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9456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E862-C1D7-4C88-B8BF-5E378ECCAAD0}"/>
              </a:ext>
            </a:extLst>
          </p:cNvPr>
          <p:cNvSpPr>
            <a:spLocks noGrp="1"/>
          </p:cNvSpPr>
          <p:nvPr>
            <p:ph type="title"/>
          </p:nvPr>
        </p:nvSpPr>
        <p:spPr>
          <a:xfrm>
            <a:off x="1282090" y="108565"/>
            <a:ext cx="9905998" cy="480520"/>
          </a:xfrm>
        </p:spPr>
        <p:txBody>
          <a:bodyPr>
            <a:normAutofit fontScale="90000"/>
          </a:bodyPr>
          <a:lstStyle/>
          <a:p>
            <a:r>
              <a:rPr lang="en-US" dirty="0"/>
              <a:t>				</a:t>
            </a:r>
            <a:r>
              <a:rPr lang="en-US" sz="3100" b="1" dirty="0">
                <a:latin typeface="Times New Roman" panose="02020603050405020304" pitchFamily="18" charset="0"/>
                <a:cs typeface="Times New Roman" panose="02020603050405020304" pitchFamily="18" charset="0"/>
              </a:rPr>
              <a:t>result</a:t>
            </a:r>
            <a:endParaRPr lang="en-IN" sz="31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249A39-C88B-4F1A-B28A-9C4E52D0D468}"/>
              </a:ext>
            </a:extLst>
          </p:cNvPr>
          <p:cNvSpPr>
            <a:spLocks noGrp="1"/>
          </p:cNvSpPr>
          <p:nvPr>
            <p:ph idx="1"/>
          </p:nvPr>
        </p:nvSpPr>
        <p:spPr>
          <a:xfrm>
            <a:off x="1141412" y="782514"/>
            <a:ext cx="9905999" cy="5231423"/>
          </a:xfrm>
        </p:spPr>
        <p:txBody>
          <a:bodyPr/>
          <a:lstStyle/>
          <a:p>
            <a:r>
              <a:rPr lang="en-US" sz="2200" dirty="0">
                <a:latin typeface="Times New Roman" panose="02020603050405020304" pitchFamily="18" charset="0"/>
                <a:cs typeface="Times New Roman" panose="02020603050405020304" pitchFamily="18" charset="0"/>
              </a:rPr>
              <a:t>In order to test the performance of fabric-iot system, two groups of comparative experiments were designed by simulating concurrent access to the system with multithreaded clients. In the ﬁrst group of experiments, they have count the processing time of PC, AC and DC with different numbers of concurrent requests. The numbers of virtual clients are set to 50, 100, 200, 500, 1000. The statistical results achieved.</a:t>
            </a:r>
          </a:p>
          <a:p>
            <a:r>
              <a:rPr lang="en-US" sz="2200" dirty="0">
                <a:latin typeface="Times New Roman" panose="02020603050405020304" pitchFamily="18" charset="0"/>
                <a:cs typeface="Times New Roman" panose="02020603050405020304" pitchFamily="18" charset="0"/>
              </a:rPr>
              <a:t>And this experiments can prove that fabric-iot can maintain high throughput in large-scale request environment, and can effectively reach consensus in distributed system to ensure data consistency.</a:t>
            </a:r>
          </a:p>
          <a:p>
            <a:endParaRPr lang="en-US" dirty="0"/>
          </a:p>
          <a:p>
            <a:endParaRPr lang="en-US" dirty="0"/>
          </a:p>
          <a:p>
            <a:endParaRPr lang="en-IN" dirty="0"/>
          </a:p>
        </p:txBody>
      </p:sp>
      <p:pic>
        <p:nvPicPr>
          <p:cNvPr id="4" name="Picture 3" descr="㿷ᛷ਴">
            <a:extLst>
              <a:ext uri="{FF2B5EF4-FFF2-40B4-BE49-F238E27FC236}">
                <a16:creationId xmlns:a16="http://schemas.microsoft.com/office/drawing/2014/main" id="{67F8B1FD-442B-4320-8AB4-75808C23E1DC}"/>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336D0C2B-E993-4CC8-A294-CE38823B89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2514867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40395-BB18-473E-BF4C-CA1F3705731D}"/>
              </a:ext>
            </a:extLst>
          </p:cNvPr>
          <p:cNvSpPr>
            <a:spLocks noGrp="1"/>
          </p:cNvSpPr>
          <p:nvPr>
            <p:ph type="title"/>
          </p:nvPr>
        </p:nvSpPr>
        <p:spPr>
          <a:xfrm>
            <a:off x="1115036" y="143733"/>
            <a:ext cx="9905998" cy="603613"/>
          </a:xfrm>
        </p:spPr>
        <p:txBody>
          <a:bodyPr/>
          <a:lstStyle/>
          <a:p>
            <a:r>
              <a:rPr lang="en-US" dirty="0"/>
              <a:t>				</a:t>
            </a:r>
            <a:r>
              <a:rPr lang="en-US" sz="2800" b="1" dirty="0">
                <a:latin typeface="Times New Roman" panose="02020603050405020304" pitchFamily="18" charset="0"/>
                <a:cs typeface="Times New Roman" panose="02020603050405020304" pitchFamily="18" charset="0"/>
              </a:rPr>
              <a:t>Conclusion</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09B7A5F-9E69-403D-900D-AB118E72CA22}"/>
              </a:ext>
            </a:extLst>
          </p:cNvPr>
          <p:cNvSpPr>
            <a:spLocks noGrp="1"/>
          </p:cNvSpPr>
          <p:nvPr>
            <p:ph idx="1"/>
          </p:nvPr>
        </p:nvSpPr>
        <p:spPr>
          <a:xfrm>
            <a:off x="1037492" y="905608"/>
            <a:ext cx="10009919" cy="5292969"/>
          </a:xfrm>
        </p:spPr>
        <p:txBody>
          <a:bodyPr>
            <a:normAutofit fontScale="92500"/>
          </a:bodyPr>
          <a:lstStyle/>
          <a:p>
            <a:r>
              <a:rPr lang="en-US" dirty="0">
                <a:latin typeface="Times New Roman" panose="02020603050405020304" pitchFamily="18" charset="0"/>
                <a:cs typeface="Times New Roman" panose="02020603050405020304" pitchFamily="18" charset="0"/>
              </a:rPr>
              <a:t>Firstly, according to the actual production data of the IoT devices, they proposes a device authority model. </a:t>
            </a:r>
          </a:p>
          <a:p>
            <a:r>
              <a:rPr lang="en-US" dirty="0">
                <a:latin typeface="Times New Roman" panose="02020603050405020304" pitchFamily="18" charset="0"/>
                <a:cs typeface="Times New Roman" panose="02020603050405020304" pitchFamily="18" charset="0"/>
              </a:rPr>
              <a:t>Secondly, according to the ABAC model, they implements the ABAC policy management and ensures the access security of the device resources by implementing the smart contract application. Furthermore, an open-source access control system named fabric-iot based on Hyperledger Fabric is designed and implemented. </a:t>
            </a:r>
          </a:p>
          <a:p>
            <a:r>
              <a:rPr lang="en-US" dirty="0">
                <a:latin typeface="Times New Roman" panose="02020603050405020304" pitchFamily="18" charset="0"/>
                <a:cs typeface="Times New Roman" panose="02020603050405020304" pitchFamily="18" charset="0"/>
              </a:rPr>
              <a:t>This system adopts distributed architecture, which can provide ﬁne-grained and dynamic access control management for the physical network. </a:t>
            </a:r>
          </a:p>
          <a:p>
            <a:r>
              <a:rPr lang="en-US" dirty="0">
                <a:latin typeface="Times New Roman" panose="02020603050405020304" pitchFamily="18" charset="0"/>
                <a:cs typeface="Times New Roman" panose="02020603050405020304" pitchFamily="18" charset="0"/>
              </a:rPr>
              <a:t>Finally, the steps of blockchain network building, chain code installation, smart contract invoking are described in detail, and the experiments show a convincible results. Above all, this paper provides a practical reference for other researchers to carry out relevant research. </a:t>
            </a:r>
            <a:endParaRPr lang="en-IN" dirty="0">
              <a:latin typeface="Times New Roman" panose="02020603050405020304" pitchFamily="18" charset="0"/>
              <a:cs typeface="Times New Roman" panose="02020603050405020304" pitchFamily="18" charset="0"/>
            </a:endParaRPr>
          </a:p>
        </p:txBody>
      </p:sp>
      <p:pic>
        <p:nvPicPr>
          <p:cNvPr id="4" name="Picture 3" descr="㿷ᛷ਴">
            <a:extLst>
              <a:ext uri="{FF2B5EF4-FFF2-40B4-BE49-F238E27FC236}">
                <a16:creationId xmlns:a16="http://schemas.microsoft.com/office/drawing/2014/main" id="{6BDBBE53-0C6D-4E56-B548-2B9C55AC51F6}"/>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BBA8019C-CED5-4B16-AC7A-9C514377DF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1585159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84D83-AA11-4039-80FB-B9450B43F845}"/>
              </a:ext>
            </a:extLst>
          </p:cNvPr>
          <p:cNvSpPr>
            <a:spLocks noGrp="1"/>
          </p:cNvSpPr>
          <p:nvPr>
            <p:ph type="title"/>
          </p:nvPr>
        </p:nvSpPr>
        <p:spPr>
          <a:xfrm>
            <a:off x="1141413" y="134941"/>
            <a:ext cx="9905998" cy="770667"/>
          </a:xfrm>
        </p:spPr>
        <p:txBody>
          <a:bodyPr/>
          <a:lstStyle/>
          <a:p>
            <a:r>
              <a:rPr lang="en-US" dirty="0"/>
              <a:t>			</a:t>
            </a:r>
            <a:r>
              <a:rPr lang="en-US" sz="2800" b="1" dirty="0">
                <a:latin typeface="Times New Roman" panose="02020603050405020304" pitchFamily="18" charset="0"/>
                <a:cs typeface="Times New Roman" panose="02020603050405020304" pitchFamily="18" charset="0"/>
              </a:rPr>
              <a:t>Future enhancement </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179DF6-395F-40A0-8BC2-4AA00875F31D}"/>
              </a:ext>
            </a:extLst>
          </p:cNvPr>
          <p:cNvSpPr>
            <a:spLocks noGrp="1"/>
          </p:cNvSpPr>
          <p:nvPr>
            <p:ph idx="1"/>
          </p:nvPr>
        </p:nvSpPr>
        <p:spPr>
          <a:xfrm>
            <a:off x="1009527" y="1062525"/>
            <a:ext cx="9905999" cy="4960206"/>
          </a:xfrm>
        </p:spPr>
        <p:txBody>
          <a:bodyPr/>
          <a:lstStyle/>
          <a:p>
            <a:r>
              <a:rPr lang="en-US" sz="2200" dirty="0">
                <a:latin typeface="Times New Roman" panose="02020603050405020304" pitchFamily="18" charset="0"/>
                <a:cs typeface="Times New Roman" panose="02020603050405020304" pitchFamily="18" charset="0"/>
              </a:rPr>
              <a:t>Future works can be improved in the following aspects: </a:t>
            </a:r>
          </a:p>
          <a:p>
            <a:r>
              <a:rPr lang="en-US" sz="2200" dirty="0">
                <a:latin typeface="Times New Roman" panose="02020603050405020304" pitchFamily="18" charset="0"/>
                <a:cs typeface="Times New Roman" panose="02020603050405020304" pitchFamily="18" charset="0"/>
              </a:rPr>
              <a:t>1)The experiments in this paper is carried out on two PCs. In the future, we consider using the cluster or the edge computing service to deploy, and further verify the distributed performance of this system. </a:t>
            </a:r>
          </a:p>
          <a:p>
            <a:r>
              <a:rPr lang="en-US" sz="2200" dirty="0">
                <a:latin typeface="Times New Roman" panose="02020603050405020304" pitchFamily="18" charset="0"/>
                <a:cs typeface="Times New Roman" panose="02020603050405020304" pitchFamily="18" charset="0"/>
              </a:rPr>
              <a:t>2) In the future, more physical devices can be used to test the reliability and throughput of the system. </a:t>
            </a:r>
          </a:p>
          <a:p>
            <a:r>
              <a:rPr lang="en-US" sz="2200" dirty="0">
                <a:latin typeface="Times New Roman" panose="02020603050405020304" pitchFamily="18" charset="0"/>
                <a:cs typeface="Times New Roman" panose="02020603050405020304" pitchFamily="18" charset="0"/>
              </a:rPr>
              <a:t>3) Future research can try to improve the scalability of fabric-iot and to support more IoT application integration</a:t>
            </a:r>
          </a:p>
          <a:p>
            <a:endParaRPr lang="en-IN" sz="2200" dirty="0">
              <a:latin typeface="Times New Roman" panose="02020603050405020304" pitchFamily="18" charset="0"/>
              <a:cs typeface="Times New Roman" panose="02020603050405020304" pitchFamily="18" charset="0"/>
            </a:endParaRPr>
          </a:p>
          <a:p>
            <a:endParaRPr lang="en-IN" dirty="0"/>
          </a:p>
        </p:txBody>
      </p:sp>
      <p:pic>
        <p:nvPicPr>
          <p:cNvPr id="4" name="Picture 3" descr="㿷ᛷ਴">
            <a:extLst>
              <a:ext uri="{FF2B5EF4-FFF2-40B4-BE49-F238E27FC236}">
                <a16:creationId xmlns:a16="http://schemas.microsoft.com/office/drawing/2014/main" id="{9D0120F7-3D66-44CE-94CE-77E779A029F7}"/>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F55D4790-7B35-44FB-9C82-3F45B5550C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3541512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7E74B-1EDB-4457-AC02-A41A27F5DE75}"/>
              </a:ext>
            </a:extLst>
          </p:cNvPr>
          <p:cNvSpPr>
            <a:spLocks noGrp="1"/>
          </p:cNvSpPr>
          <p:nvPr>
            <p:ph type="title"/>
          </p:nvPr>
        </p:nvSpPr>
        <p:spPr>
          <a:xfrm>
            <a:off x="1301261" y="140678"/>
            <a:ext cx="9746149" cy="597876"/>
          </a:xfrm>
        </p:spPr>
        <p:txBody>
          <a:bodyPr/>
          <a:lstStyle/>
          <a:p>
            <a:r>
              <a:rPr lang="en-US" dirty="0"/>
              <a:t>				</a:t>
            </a:r>
            <a:r>
              <a:rPr lang="en-US" sz="2800" b="1" dirty="0">
                <a:latin typeface="Times New Roman" panose="02020603050405020304" pitchFamily="18" charset="0"/>
                <a:cs typeface="Times New Roman" panose="02020603050405020304" pitchFamily="18" charset="0"/>
              </a:rPr>
              <a:t>References</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BC21220-015B-4C0A-A3E3-F43B3F7F9D0E}"/>
              </a:ext>
            </a:extLst>
          </p:cNvPr>
          <p:cNvSpPr>
            <a:spLocks noGrp="1"/>
          </p:cNvSpPr>
          <p:nvPr>
            <p:ph idx="1"/>
          </p:nvPr>
        </p:nvSpPr>
        <p:spPr>
          <a:xfrm>
            <a:off x="1134209" y="1037491"/>
            <a:ext cx="10176972" cy="5117123"/>
          </a:xfrm>
        </p:spPr>
        <p:txBody>
          <a:bodyPr>
            <a:normAutofit fontScale="92500" lnSpcReduction="10000"/>
          </a:bodyPr>
          <a:lstStyle/>
          <a:p>
            <a:pPr marL="0" indent="0" algn="just">
              <a:lnSpc>
                <a:spcPct val="100000"/>
              </a:lnSpc>
              <a:buNone/>
            </a:pPr>
            <a:r>
              <a:rPr lang="en-US" sz="16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K. Kostal, P. Helebrandt, M. Bellus, M. Ries, and I. Kotuliak, ‘‘Management and monitoring of iot devices using                   blockchain,’’ Sensors, vol. 19, no. 4, p. 856, 	Feb. 2019. </a:t>
            </a:r>
          </a:p>
          <a:p>
            <a:pPr marL="0" indent="0">
              <a:buNone/>
            </a:pPr>
            <a:r>
              <a:rPr lang="en-US" sz="1600" dirty="0">
                <a:latin typeface="Times New Roman" panose="02020603050405020304" pitchFamily="18" charset="0"/>
                <a:cs typeface="Times New Roman" panose="02020603050405020304" pitchFamily="18" charset="0"/>
              </a:rPr>
              <a:t>[2] J.Yang, S.He, Y.Xu, L.Chen, and J.Ren, ‘‘A trusted routing scheme using blockchain and reinforcement learning for            wireless sensor networks,’’ Sensors, vol. 19, no. 4, p. 970, Feb. 2019</a:t>
            </a:r>
          </a:p>
          <a:p>
            <a:pPr marL="0" indent="0">
              <a:buNone/>
            </a:pPr>
            <a:r>
              <a:rPr lang="en-US" sz="1600" dirty="0">
                <a:latin typeface="Times New Roman" panose="02020603050405020304" pitchFamily="18" charset="0"/>
                <a:cs typeface="Times New Roman" panose="02020603050405020304" pitchFamily="18" charset="0"/>
              </a:rPr>
              <a:t>[3] S. Ding, J. Cao, C. Li, K. Fan, and H. Li, ‘‘A novel attribute-based access control scheme using blockchain for IoT,’’ IEEE Access, vol. 7, pp. 38431–38441, 2019. </a:t>
            </a:r>
          </a:p>
          <a:p>
            <a:pPr marL="0" indent="0">
              <a:buNone/>
            </a:pPr>
            <a:r>
              <a:rPr lang="en-US" sz="1600" dirty="0">
                <a:latin typeface="Times New Roman" panose="02020603050405020304" pitchFamily="18" charset="0"/>
                <a:cs typeface="Times New Roman" panose="02020603050405020304" pitchFamily="18" charset="0"/>
              </a:rPr>
              <a:t>[4] M. Cui, D. Han, and J. Wang, ‘‘An efﬁcient and safe road condition monitoring authentication scheme based on fog computing, ’’IEEE Internet Things J., vol. 6, no. 5, pp. 9076–9084, Oct. 2019. </a:t>
            </a:r>
          </a:p>
          <a:p>
            <a:pPr marL="0" indent="0">
              <a:buNone/>
            </a:pPr>
            <a:r>
              <a:rPr lang="en-IN" sz="1600" dirty="0">
                <a:latin typeface="Times New Roman" panose="02020603050405020304" pitchFamily="18" charset="0"/>
                <a:cs typeface="Times New Roman" panose="02020603050405020304" pitchFamily="18" charset="0"/>
              </a:rPr>
              <a:t>[5] M. Ma, G. Shi, and F. Li, ‘‘Privacy-oriented blockchain-based distributed key management architecture for hierarchical access control in the IoT scenario,’’ IEEE Access, vol. 7, pp. 34045–34059, 2019.</a:t>
            </a:r>
          </a:p>
          <a:p>
            <a:pPr marL="0" indent="0">
              <a:buNone/>
            </a:pPr>
            <a:r>
              <a:rPr lang="en-IN" sz="1600" dirty="0">
                <a:latin typeface="Times New Roman" panose="02020603050405020304" pitchFamily="18" charset="0"/>
                <a:cs typeface="Times New Roman" panose="02020603050405020304" pitchFamily="18" charset="0"/>
              </a:rPr>
              <a:t> [6] Z. Yang, K. Yang, L. Lei, K. Zheng, and V. C. M. Leung, ‘‘Block chain based decentralized trust management in vehicular networks,’’IEEEInternet Things J., vol. 6, no. 2, pp. 1495–1505, Apr. 2019</a:t>
            </a:r>
          </a:p>
          <a:p>
            <a:pPr marL="0" indent="0">
              <a:buNone/>
            </a:pPr>
            <a:r>
              <a:rPr lang="en-IN" sz="1600" dirty="0">
                <a:latin typeface="Times New Roman" panose="02020603050405020304" pitchFamily="18" charset="0"/>
                <a:cs typeface="Times New Roman" panose="02020603050405020304" pitchFamily="18" charset="0"/>
              </a:rPr>
              <a:t> [7] </a:t>
            </a:r>
            <a:r>
              <a:rPr lang="en-IN" sz="1600" dirty="0" err="1">
                <a:latin typeface="Times New Roman" panose="02020603050405020304" pitchFamily="18" charset="0"/>
                <a:cs typeface="Times New Roman" panose="02020603050405020304" pitchFamily="18" charset="0"/>
              </a:rPr>
              <a:t>O.Novo,‘‘Scalable</a:t>
            </a:r>
            <a:r>
              <a:rPr lang="en-IN" sz="1600" dirty="0">
                <a:latin typeface="Times New Roman" panose="02020603050405020304" pitchFamily="18" charset="0"/>
                <a:cs typeface="Times New Roman" panose="02020603050405020304" pitchFamily="18" charset="0"/>
              </a:rPr>
              <a:t> access management in IoT using blockchain: A performance evaluation,’’ IEEE Internet Things J., vol. 6, no. 3, pp. 4694–4701, Jun. 2019</a:t>
            </a:r>
          </a:p>
          <a:p>
            <a:pPr marL="0" indent="0">
              <a:buNone/>
            </a:pPr>
            <a:r>
              <a:rPr lang="en-IN" sz="1600" dirty="0">
                <a:latin typeface="Times New Roman" panose="02020603050405020304" pitchFamily="18" charset="0"/>
                <a:cs typeface="Times New Roman" panose="02020603050405020304" pitchFamily="18" charset="0"/>
              </a:rPr>
              <a:t>[8] </a:t>
            </a:r>
            <a:r>
              <a:rPr lang="en-US" sz="1600" dirty="0">
                <a:latin typeface="Times New Roman" panose="02020603050405020304" pitchFamily="18" charset="0"/>
                <a:cs typeface="Times New Roman" panose="02020603050405020304" pitchFamily="18" charset="0"/>
              </a:rPr>
              <a:t>H. Li and D. Han, ‘‘Edu RSS: A blockchain-based educational records secure storage and sharing scheme,’’ IEEE Access, vol. 7, pp. 179273–179289, 2019. </a:t>
            </a:r>
            <a:endParaRPr lang="en-IN" sz="1600" dirty="0">
              <a:latin typeface="Times New Roman" panose="02020603050405020304" pitchFamily="18" charset="0"/>
              <a:cs typeface="Times New Roman" panose="02020603050405020304" pitchFamily="18" charset="0"/>
            </a:endParaRPr>
          </a:p>
          <a:p>
            <a:pPr marL="0" indent="0">
              <a:buNone/>
            </a:pPr>
            <a:endParaRPr lang="en-IN" sz="1600" dirty="0">
              <a:latin typeface="Times New Roman" panose="02020603050405020304" pitchFamily="18" charset="0"/>
              <a:cs typeface="Times New Roman" panose="02020603050405020304" pitchFamily="18" charset="0"/>
            </a:endParaRPr>
          </a:p>
        </p:txBody>
      </p:sp>
      <p:pic>
        <p:nvPicPr>
          <p:cNvPr id="4" name="Picture 3" descr="㿷ᛷ਴">
            <a:extLst>
              <a:ext uri="{FF2B5EF4-FFF2-40B4-BE49-F238E27FC236}">
                <a16:creationId xmlns:a16="http://schemas.microsoft.com/office/drawing/2014/main" id="{010499C8-3A53-4E40-BF74-DD98E4B7242C}"/>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1B9232CC-3E30-4891-8C5A-1C0053A71F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1196239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32291-1578-4A6A-84EB-93FB12235465}"/>
              </a:ext>
            </a:extLst>
          </p:cNvPr>
          <p:cNvSpPr>
            <a:spLocks noGrp="1"/>
          </p:cNvSpPr>
          <p:nvPr>
            <p:ph type="title"/>
          </p:nvPr>
        </p:nvSpPr>
        <p:spPr>
          <a:xfrm>
            <a:off x="2451466" y="2280264"/>
            <a:ext cx="7176111" cy="1478570"/>
          </a:xfrm>
        </p:spPr>
        <p:txBody>
          <a:bodyPr>
            <a:normAutofit/>
          </a:bodyPr>
          <a:lstStyle/>
          <a:p>
            <a:r>
              <a:rPr lang="en-US" sz="7500" dirty="0">
                <a:latin typeface="Times New Roman" panose="02020603050405020304" pitchFamily="18" charset="0"/>
                <a:cs typeface="Times New Roman" panose="02020603050405020304" pitchFamily="18" charset="0"/>
              </a:rPr>
              <a:t>	Thank you</a:t>
            </a:r>
            <a:endParaRPr lang="en-IN" sz="7500" dirty="0">
              <a:latin typeface="Times New Roman" panose="02020603050405020304" pitchFamily="18" charset="0"/>
              <a:cs typeface="Times New Roman" panose="02020603050405020304" pitchFamily="18" charset="0"/>
            </a:endParaRPr>
          </a:p>
        </p:txBody>
      </p:sp>
      <p:pic>
        <p:nvPicPr>
          <p:cNvPr id="4" name="Picture 3" descr="㿷ᛷ਴">
            <a:extLst>
              <a:ext uri="{FF2B5EF4-FFF2-40B4-BE49-F238E27FC236}">
                <a16:creationId xmlns:a16="http://schemas.microsoft.com/office/drawing/2014/main" id="{1545FAC9-E94F-44C3-9B93-8A0F5A7295B1}"/>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B7EAFE4C-6225-4C5E-BF75-3793FE23F8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1032993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2FE76-0A39-473A-BE03-AE39BEA3E8B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2068EC-35C0-4E7A-A46D-01A18F50FB7D}"/>
              </a:ext>
            </a:extLst>
          </p:cNvPr>
          <p:cNvSpPr>
            <a:spLocks noGrp="1"/>
          </p:cNvSpPr>
          <p:nvPr>
            <p:ph idx="1"/>
          </p:nvPr>
        </p:nvSpPr>
        <p:spPr/>
        <p:txBody>
          <a:bodyPr/>
          <a:lstStyle/>
          <a:p>
            <a:endParaRPr lang="en-IN"/>
          </a:p>
        </p:txBody>
      </p:sp>
      <p:pic>
        <p:nvPicPr>
          <p:cNvPr id="4" name="Picture 3" descr="㿷ᛷ਴">
            <a:extLst>
              <a:ext uri="{FF2B5EF4-FFF2-40B4-BE49-F238E27FC236}">
                <a16:creationId xmlns:a16="http://schemas.microsoft.com/office/drawing/2014/main" id="{CCBBC13F-66DA-49B2-9DDF-CED180536B41}"/>
              </a:ext>
            </a:extLst>
          </p:cNvPr>
          <p:cNvPicPr/>
          <p:nvPr/>
        </p:nvPicPr>
        <p:blipFill>
          <a:blip r:embed="rId2"/>
          <a:srcRect/>
          <a:stretch>
            <a:fillRect/>
          </a:stretch>
        </p:blipFill>
        <p:spPr bwMode="auto">
          <a:xfrm>
            <a:off x="1" y="-136"/>
            <a:ext cx="899592" cy="768744"/>
          </a:xfrm>
          <a:prstGeom prst="rect">
            <a:avLst/>
          </a:prstGeom>
          <a:noFill/>
          <a:ln w="9525">
            <a:noFill/>
            <a:miter lim="800000"/>
            <a:headEnd/>
            <a:tailEnd/>
          </a:ln>
        </p:spPr>
      </p:pic>
      <p:pic>
        <p:nvPicPr>
          <p:cNvPr id="5" name="Picture 4">
            <a:extLst>
              <a:ext uri="{FF2B5EF4-FFF2-40B4-BE49-F238E27FC236}">
                <a16:creationId xmlns:a16="http://schemas.microsoft.com/office/drawing/2014/main" id="{71608E82-0320-4470-A24F-B990A27F61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279" y="0"/>
            <a:ext cx="1008721" cy="799620"/>
          </a:xfrm>
          <a:prstGeom prst="rect">
            <a:avLst/>
          </a:prstGeom>
        </p:spPr>
      </p:pic>
    </p:spTree>
    <p:extLst>
      <p:ext uri="{BB962C8B-B14F-4D97-AF65-F5344CB8AC3E}">
        <p14:creationId xmlns:p14="http://schemas.microsoft.com/office/powerpoint/2010/main" val="2186066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512</TotalTime>
  <Words>2130</Words>
  <Application>Microsoft Office PowerPoint</Application>
  <PresentationFormat>Widescreen</PresentationFormat>
  <Paragraphs>156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Times New Roman</vt:lpstr>
      <vt:lpstr>Tw Cen MT</vt:lpstr>
      <vt:lpstr>Wingdings</vt:lpstr>
      <vt:lpstr>Circuit</vt:lpstr>
      <vt:lpstr>          SRI KRISHNA INSTITUTE OF TECHNOLOGY </vt:lpstr>
      <vt:lpstr>    OVERVIEW </vt:lpstr>
      <vt:lpstr>    Abstract </vt:lpstr>
      <vt:lpstr>   Introduction </vt:lpstr>
      <vt:lpstr>cont.…</vt:lpstr>
      <vt:lpstr>   Literature Survey </vt:lpstr>
      <vt:lpstr>cont.…</vt:lpstr>
      <vt:lpstr>    objective</vt:lpstr>
      <vt:lpstr>   Methodology </vt:lpstr>
      <vt:lpstr>Cont.… </vt:lpstr>
      <vt:lpstr>Cont.… </vt:lpstr>
      <vt:lpstr>    result</vt:lpstr>
      <vt:lpstr>    Conclusion </vt:lpstr>
      <vt:lpstr>   Future enhancement </vt:lpstr>
      <vt:lpstr>    References</vt:lpstr>
      <vt:lpstr> Thank you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SRI KRISHNA INSTITUTE OF TECHNOLOGY</dc:title>
  <dc:creator>shubhashini pal</dc:creator>
  <cp:lastModifiedBy>shubhashini pal</cp:lastModifiedBy>
  <cp:revision>42</cp:revision>
  <dcterms:created xsi:type="dcterms:W3CDTF">2021-05-03T04:45:55Z</dcterms:created>
  <dcterms:modified xsi:type="dcterms:W3CDTF">2021-05-28T06:52:19Z</dcterms:modified>
</cp:coreProperties>
</file>